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6" r:id="rId20"/>
    <p:sldId id="277" r:id="rId21"/>
    <p:sldId id="275" r:id="rId22"/>
  </p:sldIdLst>
  <p:sldSz cx="9144000" cy="64801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92" d="100"/>
          <a:sy n="92" d="100"/>
        </p:scale>
        <p:origin x="-1186" y="-86"/>
      </p:cViewPr>
      <p:guideLst>
        <p:guide orient="horz" pos="2041"/>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74F885-95EB-4E71-813A-A9CFDA600BC0}" type="datetimeFigureOut">
              <a:rPr lang="en-US" smtClean="0"/>
              <a:pPr/>
              <a:t>11/15/2025</a:t>
            </a:fld>
            <a:endParaRPr lang="en-US"/>
          </a:p>
        </p:txBody>
      </p:sp>
      <p:sp>
        <p:nvSpPr>
          <p:cNvPr id="4" name="Slide Image Placeholder 3"/>
          <p:cNvSpPr>
            <a:spLocks noGrp="1" noRot="1" noChangeAspect="1"/>
          </p:cNvSpPr>
          <p:nvPr>
            <p:ph type="sldImg" idx="2"/>
          </p:nvPr>
        </p:nvSpPr>
        <p:spPr>
          <a:xfrm>
            <a:off x="1011238" y="685800"/>
            <a:ext cx="48355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063D8-A09E-49C0-ACFB-2ECF1E34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07063D8-A09E-49C0-ACFB-2ECF1E34C334}"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13056"/>
            <a:ext cx="7772400" cy="1389038"/>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672099"/>
            <a:ext cx="6400800" cy="1656045"/>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164113"/>
            <a:ext cx="7772400" cy="128703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746576"/>
            <a:ext cx="7772400" cy="1417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12042"/>
            <a:ext cx="4038600" cy="42766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12042"/>
            <a:ext cx="4038600" cy="42766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450540"/>
            <a:ext cx="4040188" cy="6045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055056"/>
            <a:ext cx="4040188" cy="373360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450540"/>
            <a:ext cx="4041775" cy="6045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055056"/>
            <a:ext cx="4041775" cy="373360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58007"/>
            <a:ext cx="3008313" cy="109803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58008"/>
            <a:ext cx="5111751" cy="55306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356038"/>
            <a:ext cx="3008313" cy="44326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536123"/>
            <a:ext cx="5486400" cy="53551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579016"/>
            <a:ext cx="5486400" cy="388810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071638"/>
            <a:ext cx="5486400" cy="7605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59509"/>
            <a:ext cx="2057400" cy="552914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59509"/>
            <a:ext cx="6019800" cy="552914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B131ED-A583-4061-A417-B080E01A145D}"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9F3BD-1FCE-4A3E-B324-A1CB1BAD604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59508"/>
            <a:ext cx="8229600" cy="1080029"/>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512042"/>
            <a:ext cx="8229600" cy="427661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006164"/>
            <a:ext cx="2133600" cy="345009"/>
          </a:xfrm>
          <a:prstGeom prst="rect">
            <a:avLst/>
          </a:prstGeom>
        </p:spPr>
        <p:txBody>
          <a:bodyPr vert="horz" lIns="91440" tIns="45720" rIns="91440" bIns="45720" rtlCol="0" anchor="ctr"/>
          <a:lstStyle>
            <a:lvl1pPr algn="l">
              <a:defRPr sz="1200">
                <a:solidFill>
                  <a:schemeClr val="tx1">
                    <a:tint val="75000"/>
                  </a:schemeClr>
                </a:solidFill>
              </a:defRPr>
            </a:lvl1pPr>
          </a:lstStyle>
          <a:p>
            <a:fld id="{22B131ED-A583-4061-A417-B080E01A145D}" type="datetimeFigureOut">
              <a:rPr lang="en-US" smtClean="0"/>
              <a:pPr/>
              <a:t>11/15/2025</a:t>
            </a:fld>
            <a:endParaRPr lang="en-US"/>
          </a:p>
        </p:txBody>
      </p:sp>
      <p:sp>
        <p:nvSpPr>
          <p:cNvPr id="5" name="Footer Placeholder 4"/>
          <p:cNvSpPr>
            <a:spLocks noGrp="1"/>
          </p:cNvSpPr>
          <p:nvPr>
            <p:ph type="ftr" sz="quarter" idx="3"/>
          </p:nvPr>
        </p:nvSpPr>
        <p:spPr>
          <a:xfrm>
            <a:off x="3124200" y="6006164"/>
            <a:ext cx="2895600" cy="34500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006164"/>
            <a:ext cx="2133600" cy="345009"/>
          </a:xfrm>
          <a:prstGeom prst="rect">
            <a:avLst/>
          </a:prstGeom>
        </p:spPr>
        <p:txBody>
          <a:bodyPr vert="horz" lIns="91440" tIns="45720" rIns="91440" bIns="45720" rtlCol="0" anchor="ctr"/>
          <a:lstStyle>
            <a:lvl1pPr algn="r">
              <a:defRPr sz="1200">
                <a:solidFill>
                  <a:schemeClr val="tx1">
                    <a:tint val="75000"/>
                  </a:schemeClr>
                </a:solidFill>
              </a:defRPr>
            </a:lvl1pPr>
          </a:lstStyle>
          <a:p>
            <a:fld id="{4D99F3BD-1FCE-4A3E-B324-A1CB1BAD604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thirumurugan.j143@gmail.com" TargetMode="External"/><Relationship Id="rId5" Type="http://schemas.openxmlformats.org/officeDocument/2006/relationships/hyperlink" Target="mailto:sainanthan2003@gmail.com"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6" name="Picture 5" descr="pngegg (54).png"/>
          <p:cNvPicPr>
            <a:picLocks noChangeAspect="1"/>
          </p:cNvPicPr>
          <p:nvPr/>
        </p:nvPicPr>
        <p:blipFill>
          <a:blip r:embed="rId3" cstate="print"/>
          <a:srcRect l="14612"/>
          <a:stretch>
            <a:fillRect/>
          </a:stretch>
        </p:blipFill>
        <p:spPr>
          <a:xfrm>
            <a:off x="5436096" y="1499523"/>
            <a:ext cx="4075130" cy="5268956"/>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611560" y="1511895"/>
            <a:ext cx="7560840" cy="1079981"/>
          </a:xfrm>
        </p:spPr>
        <p:txBody>
          <a:bodyPr>
            <a:normAutofit fontScale="25000" lnSpcReduction="20000"/>
          </a:bodyPr>
          <a:lstStyle/>
          <a:p>
            <a:r>
              <a:rPr lang="en-IN" sz="12800" b="1" dirty="0" smtClean="0">
                <a:solidFill>
                  <a:srgbClr val="FF0000"/>
                </a:solidFill>
                <a:latin typeface="Arial" pitchFamily="34" charset="0"/>
                <a:cs typeface="Arial" pitchFamily="34" charset="0"/>
              </a:rPr>
              <a:t>Capstone Project</a:t>
            </a:r>
          </a:p>
          <a:p>
            <a:endParaRPr lang="en-IN" sz="6700" b="1" dirty="0" smtClean="0">
              <a:solidFill>
                <a:srgbClr val="FF0000"/>
              </a:solidFill>
              <a:latin typeface="Arial" pitchFamily="34" charset="0"/>
              <a:cs typeface="Arial" pitchFamily="34" charset="0"/>
            </a:endParaRPr>
          </a:p>
          <a:p>
            <a:pPr algn="l"/>
            <a:r>
              <a:rPr lang="en-IN" b="1" dirty="0" smtClean="0">
                <a:solidFill>
                  <a:srgbClr val="FF0000"/>
                </a:solidFill>
                <a:latin typeface="Arial" pitchFamily="34" charset="0"/>
                <a:cs typeface="Arial" pitchFamily="34" charset="0"/>
              </a:rPr>
              <a:t>	</a:t>
            </a:r>
            <a:endParaRPr lang="en-IN" sz="5000" b="1" dirty="0" smtClean="0">
              <a:solidFill>
                <a:srgbClr val="FF0000"/>
              </a:solidFill>
              <a:latin typeface="Arial" pitchFamily="34" charset="0"/>
              <a:cs typeface="Arial" pitchFamily="34" charset="0"/>
            </a:endParaRPr>
          </a:p>
          <a:p>
            <a:pPr algn="l"/>
            <a:r>
              <a:rPr lang="en-IN" b="1" dirty="0" smtClean="0">
                <a:solidFill>
                  <a:srgbClr val="FF0000"/>
                </a:solidFill>
                <a:latin typeface="Arial" pitchFamily="34" charset="0"/>
                <a:cs typeface="Arial" pitchFamily="34" charset="0"/>
              </a:rPr>
              <a:t> </a:t>
            </a:r>
            <a:endParaRPr lang="en-US" b="1" dirty="0">
              <a:solidFill>
                <a:srgbClr val="FF0000"/>
              </a:solidFill>
              <a:latin typeface="Arial" pitchFamily="34" charset="0"/>
              <a:cs typeface="Arial" pitchFamily="34" charset="0"/>
            </a:endParaRPr>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sp>
        <p:nvSpPr>
          <p:cNvPr id="5" name="Rectangle 4"/>
          <p:cNvSpPr/>
          <p:nvPr/>
        </p:nvSpPr>
        <p:spPr>
          <a:xfrm>
            <a:off x="323528" y="2808039"/>
            <a:ext cx="5832648" cy="2123658"/>
          </a:xfrm>
          <a:prstGeom prst="rect">
            <a:avLst/>
          </a:prstGeom>
        </p:spPr>
        <p:txBody>
          <a:bodyPr wrap="square">
            <a:spAutoFit/>
          </a:bodyPr>
          <a:lstStyle/>
          <a:p>
            <a:r>
              <a:rPr lang="en-IN" sz="2400" b="1" dirty="0" smtClean="0">
                <a:solidFill>
                  <a:srgbClr val="0070C0"/>
                </a:solidFill>
                <a:latin typeface="Arial" pitchFamily="34" charset="0"/>
                <a:cs typeface="Arial" pitchFamily="34" charset="0"/>
              </a:rPr>
              <a:t>   </a:t>
            </a:r>
            <a:r>
              <a:rPr lang="en-IN" sz="2400" b="1" dirty="0" smtClean="0">
                <a:solidFill>
                  <a:srgbClr val="0070C0"/>
                </a:solidFill>
                <a:latin typeface="Times New Roman" pitchFamily="18" charset="0"/>
                <a:cs typeface="Times New Roman" pitchFamily="18" charset="0"/>
              </a:rPr>
              <a:t>Team </a:t>
            </a:r>
            <a:r>
              <a:rPr lang="en-IN" sz="2400" b="1" dirty="0" smtClean="0">
                <a:solidFill>
                  <a:srgbClr val="0070C0"/>
                </a:solidFill>
                <a:latin typeface="Times New Roman" pitchFamily="18" charset="0"/>
                <a:cs typeface="Times New Roman" pitchFamily="18" charset="0"/>
              </a:rPr>
              <a:t>ID: </a:t>
            </a:r>
            <a:r>
              <a:rPr lang="en-US" sz="1600" dirty="0" smtClean="0">
                <a:latin typeface="Arial" pitchFamily="34" charset="0"/>
                <a:cs typeface="Arial" pitchFamily="34" charset="0"/>
              </a:rPr>
              <a:t>PTID-CDA-NOV-25-884 </a:t>
            </a:r>
            <a:r>
              <a:rPr lang="en-IN" sz="2400" b="1" dirty="0" smtClean="0">
                <a:solidFill>
                  <a:srgbClr val="FF0000"/>
                </a:solidFill>
                <a:latin typeface="Arial" pitchFamily="34" charset="0"/>
                <a:cs typeface="Arial" pitchFamily="34" charset="0"/>
              </a:rPr>
              <a:t/>
            </a:r>
            <a:br>
              <a:rPr lang="en-IN" sz="2400" b="1" dirty="0" smtClean="0">
                <a:solidFill>
                  <a:srgbClr val="FF0000"/>
                </a:solidFill>
                <a:latin typeface="Arial" pitchFamily="34" charset="0"/>
                <a:cs typeface="Arial" pitchFamily="34" charset="0"/>
              </a:rPr>
            </a:br>
            <a:r>
              <a:rPr lang="en-IN" sz="2400" b="1" dirty="0" smtClean="0">
                <a:solidFill>
                  <a:srgbClr val="0070C0"/>
                </a:solidFill>
                <a:latin typeface="Times New Roman" pitchFamily="18" charset="0"/>
                <a:cs typeface="Times New Roman" pitchFamily="18" charset="0"/>
              </a:rPr>
              <a:t>Project </a:t>
            </a:r>
            <a:r>
              <a:rPr lang="en-IN" sz="2400" b="1" dirty="0" smtClean="0">
                <a:solidFill>
                  <a:srgbClr val="0070C0"/>
                </a:solidFill>
                <a:latin typeface="Times New Roman" pitchFamily="18" charset="0"/>
                <a:cs typeface="Times New Roman" pitchFamily="18" charset="0"/>
              </a:rPr>
              <a:t>ID: </a:t>
            </a:r>
            <a:r>
              <a:rPr lang="en-US" sz="1600" dirty="0" smtClean="0">
                <a:latin typeface="Arial" pitchFamily="34" charset="0"/>
                <a:cs typeface="Arial" pitchFamily="34" charset="0"/>
              </a:rPr>
              <a:t>PRDA-05</a:t>
            </a:r>
            <a:r>
              <a:rPr lang="en-US" dirty="0" smtClean="0"/>
              <a:t> </a:t>
            </a:r>
            <a:endParaRPr lang="en-IN" sz="2400" b="1" dirty="0" smtClean="0">
              <a:solidFill>
                <a:srgbClr val="FF0000"/>
              </a:solidFill>
              <a:latin typeface="Arial" pitchFamily="34" charset="0"/>
              <a:cs typeface="Arial" pitchFamily="34" charset="0"/>
            </a:endParaRPr>
          </a:p>
          <a:p>
            <a:r>
              <a:rPr lang="en-IN" sz="2400" b="1" dirty="0" smtClean="0">
                <a:solidFill>
                  <a:srgbClr val="0070C0"/>
                </a:solidFill>
                <a:latin typeface="Arial" pitchFamily="34" charset="0"/>
                <a:cs typeface="Arial" pitchFamily="34" charset="0"/>
              </a:rPr>
              <a:t>       </a:t>
            </a:r>
            <a:r>
              <a:rPr lang="en-IN" sz="2400" b="1" dirty="0" smtClean="0">
                <a:solidFill>
                  <a:srgbClr val="0070C0"/>
                </a:solidFill>
                <a:latin typeface="Times New Roman" pitchFamily="18" charset="0"/>
                <a:cs typeface="Times New Roman" pitchFamily="18" charset="0"/>
              </a:rPr>
              <a:t>Name</a:t>
            </a:r>
            <a:r>
              <a:rPr lang="en-IN" sz="2400" b="1" dirty="0" smtClean="0">
                <a:solidFill>
                  <a:srgbClr val="0070C0"/>
                </a:solidFill>
                <a:latin typeface="Times New Roman" pitchFamily="18" charset="0"/>
                <a:cs typeface="Times New Roman" pitchFamily="18" charset="0"/>
              </a:rPr>
              <a:t>: </a:t>
            </a:r>
            <a:r>
              <a:rPr lang="en-IN" dirty="0" err="1" smtClean="0">
                <a:latin typeface="Arial" pitchFamily="34" charset="0"/>
                <a:cs typeface="Arial" pitchFamily="34" charset="0"/>
              </a:rPr>
              <a:t>Sainanthan</a:t>
            </a:r>
            <a:r>
              <a:rPr lang="en-IN" dirty="0" smtClean="0">
                <a:latin typeface="Arial" pitchFamily="34" charset="0"/>
                <a:cs typeface="Arial" pitchFamily="34" charset="0"/>
              </a:rPr>
              <a:t/>
            </a:r>
            <a:br>
              <a:rPr lang="en-IN" dirty="0" smtClean="0">
                <a:latin typeface="Arial" pitchFamily="34" charset="0"/>
                <a:cs typeface="Arial" pitchFamily="34" charset="0"/>
              </a:rPr>
            </a:br>
            <a:r>
              <a:rPr lang="en-IN" dirty="0" smtClean="0">
                <a:latin typeface="Arial" pitchFamily="34" charset="0"/>
                <a:cs typeface="Arial" pitchFamily="34" charset="0"/>
              </a:rPr>
              <a:t>                        </a:t>
            </a:r>
            <a:r>
              <a:rPr lang="en-IN" dirty="0" err="1" smtClean="0">
                <a:latin typeface="Arial" pitchFamily="34" charset="0"/>
                <a:cs typeface="Arial" pitchFamily="34" charset="0"/>
              </a:rPr>
              <a:t>Thirumurugan</a:t>
            </a:r>
            <a:r>
              <a:rPr lang="en-IN" dirty="0" smtClean="0">
                <a:latin typeface="Arial" pitchFamily="34" charset="0"/>
                <a:cs typeface="Arial" pitchFamily="34" charset="0"/>
              </a:rPr>
              <a:t> </a:t>
            </a:r>
            <a:endParaRPr lang="en-IN" sz="2400" b="1" dirty="0" smtClean="0">
              <a:solidFill>
                <a:srgbClr val="FF0000"/>
              </a:solidFill>
              <a:latin typeface="Arial" pitchFamily="34" charset="0"/>
              <a:cs typeface="Arial" pitchFamily="34" charset="0"/>
            </a:endParaRPr>
          </a:p>
          <a:p>
            <a:r>
              <a:rPr lang="en-IN" sz="2400" b="1" dirty="0" smtClean="0">
                <a:solidFill>
                  <a:srgbClr val="0070C0"/>
                </a:solidFill>
                <a:latin typeface="Arial" pitchFamily="34" charset="0"/>
                <a:cs typeface="Arial" pitchFamily="34" charset="0"/>
              </a:rPr>
              <a:t>   </a:t>
            </a:r>
            <a:r>
              <a:rPr lang="en-IN" sz="2400" b="1" dirty="0" smtClean="0">
                <a:solidFill>
                  <a:srgbClr val="0070C0"/>
                </a:solidFill>
                <a:latin typeface="Times New Roman" pitchFamily="18" charset="0"/>
                <a:cs typeface="Times New Roman" pitchFamily="18" charset="0"/>
              </a:rPr>
              <a:t>Email </a:t>
            </a:r>
            <a:r>
              <a:rPr lang="en-IN" sz="2400" b="1" dirty="0" smtClean="0">
                <a:solidFill>
                  <a:srgbClr val="0070C0"/>
                </a:solidFill>
                <a:latin typeface="Times New Roman" pitchFamily="18" charset="0"/>
                <a:cs typeface="Times New Roman" pitchFamily="18" charset="0"/>
              </a:rPr>
              <a:t>ID: </a:t>
            </a:r>
            <a:r>
              <a:rPr lang="en-IN" b="1" dirty="0" smtClean="0">
                <a:solidFill>
                  <a:srgbClr val="C00000"/>
                </a:solidFill>
                <a:latin typeface="Arial" pitchFamily="34" charset="0"/>
                <a:cs typeface="Arial" pitchFamily="34" charset="0"/>
                <a:hlinkClick r:id="rId5"/>
              </a:rPr>
              <a:t>sainanthan2003@gmail.com</a:t>
            </a:r>
            <a:endParaRPr lang="en-IN" b="1" dirty="0" smtClean="0">
              <a:solidFill>
                <a:srgbClr val="C00000"/>
              </a:solidFill>
              <a:latin typeface="Arial" pitchFamily="34" charset="0"/>
              <a:cs typeface="Arial" pitchFamily="34" charset="0"/>
            </a:endParaRPr>
          </a:p>
          <a:p>
            <a:r>
              <a:rPr lang="en-IN" b="1" dirty="0" smtClean="0">
                <a:solidFill>
                  <a:srgbClr val="C00000"/>
                </a:solidFill>
                <a:latin typeface="Arial" pitchFamily="34" charset="0"/>
                <a:cs typeface="Arial" pitchFamily="34" charset="0"/>
              </a:rPr>
              <a:t>	</a:t>
            </a:r>
            <a:r>
              <a:rPr lang="en-IN" b="1" dirty="0" smtClean="0">
                <a:solidFill>
                  <a:srgbClr val="C00000"/>
                </a:solidFill>
                <a:latin typeface="Arial" pitchFamily="34" charset="0"/>
                <a:cs typeface="Arial" pitchFamily="34" charset="0"/>
              </a:rPr>
              <a:t>           </a:t>
            </a:r>
            <a:r>
              <a:rPr lang="en-IN" b="1" dirty="0" smtClean="0">
                <a:solidFill>
                  <a:srgbClr val="C00000"/>
                </a:solidFill>
                <a:latin typeface="Arial" pitchFamily="34" charset="0"/>
                <a:cs typeface="Arial" pitchFamily="34" charset="0"/>
                <a:hlinkClick r:id="rId6"/>
              </a:rPr>
              <a:t>thirumurugan.j143@gmail.com</a:t>
            </a:r>
            <a:endParaRPr lang="en-IN" b="1" dirty="0" smtClean="0">
              <a:solidFill>
                <a:srgbClr val="C00000"/>
              </a:solidFill>
              <a:latin typeface="Arial" pitchFamily="34" charset="0"/>
              <a:cs typeface="Arial" pitchFamily="34" charset="0"/>
            </a:endParaRPr>
          </a:p>
        </p:txBody>
      </p:sp>
    </p:spTree>
  </p:cSld>
  <p:clrMapOvr>
    <a:masterClrMapping/>
  </p:clrMapOvr>
  <p:transition>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467544" y="1511895"/>
            <a:ext cx="8424936" cy="4608512"/>
          </a:xfrm>
        </p:spPr>
        <p:txBody>
          <a:bodyPr>
            <a:normAutofit/>
          </a:bodyPr>
          <a:lstStyle/>
          <a:p>
            <a:r>
              <a:rPr lang="en-US" b="1" dirty="0" smtClean="0">
                <a:solidFill>
                  <a:srgbClr val="FF0000"/>
                </a:solidFill>
                <a:latin typeface="Arial" pitchFamily="34" charset="0"/>
                <a:cs typeface="Arial" pitchFamily="34" charset="0"/>
              </a:rPr>
              <a:t>Project Overview</a:t>
            </a:r>
          </a:p>
          <a:p>
            <a:pPr algn="just"/>
            <a:r>
              <a:rPr lang="en-US" sz="1800" dirty="0" smtClean="0">
                <a:solidFill>
                  <a:schemeClr val="tx1">
                    <a:lumMod val="75000"/>
                    <a:lumOff val="25000"/>
                  </a:schemeClr>
                </a:solidFill>
              </a:rPr>
              <a:t>This project analyzes real customer shopping transactions across multiple malls using SQL for data exploration and Power BI for interactive visualizations. The goal is to understand customer behavior, identify revenue drivers, and provide insights that help businesses optimize marketing, inventory, and customer engagement strategies.</a:t>
            </a:r>
          </a:p>
          <a:p>
            <a:pPr algn="l"/>
            <a:r>
              <a:rPr lang="en-US" sz="2000" b="1" dirty="0" smtClean="0">
                <a:solidFill>
                  <a:schemeClr val="tx1"/>
                </a:solidFill>
                <a:latin typeface="Arial" pitchFamily="34" charset="0"/>
                <a:cs typeface="Arial" pitchFamily="34" charset="0"/>
              </a:rPr>
              <a:t>Key Focus Areas :</a:t>
            </a: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Gender-based </a:t>
            </a:r>
            <a:r>
              <a:rPr lang="en-US" sz="2000" dirty="0" smtClean="0">
                <a:solidFill>
                  <a:schemeClr val="tx1">
                    <a:lumMod val="75000"/>
                    <a:lumOff val="25000"/>
                  </a:schemeClr>
                </a:solidFill>
                <a:latin typeface="Arial" pitchFamily="34" charset="0"/>
                <a:cs typeface="Arial" pitchFamily="34" charset="0"/>
              </a:rPr>
              <a:t>buying </a:t>
            </a:r>
            <a:r>
              <a:rPr lang="en-US" sz="2000" dirty="0" smtClean="0">
                <a:solidFill>
                  <a:schemeClr val="tx1">
                    <a:lumMod val="75000"/>
                    <a:lumOff val="25000"/>
                  </a:schemeClr>
                </a:solidFill>
                <a:latin typeface="Arial" pitchFamily="34" charset="0"/>
                <a:cs typeface="Arial" pitchFamily="34" charset="0"/>
              </a:rPr>
              <a:t>patterns.</a:t>
            </a:r>
            <a:endParaRPr lang="en-US" sz="2000" dirty="0" smtClean="0">
              <a:solidFill>
                <a:schemeClr val="tx1">
                  <a:lumMod val="75000"/>
                  <a:lumOff val="25000"/>
                </a:schemeClr>
              </a:solidFill>
              <a:latin typeface="Arial" pitchFamily="34" charset="0"/>
              <a:cs typeface="Arial" pitchFamily="34" charset="0"/>
            </a:endParaRP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Age-wise </a:t>
            </a:r>
            <a:r>
              <a:rPr lang="en-US" sz="2000" dirty="0" smtClean="0">
                <a:solidFill>
                  <a:schemeClr val="tx1">
                    <a:lumMod val="75000"/>
                    <a:lumOff val="25000"/>
                  </a:schemeClr>
                </a:solidFill>
                <a:latin typeface="Arial" pitchFamily="34" charset="0"/>
                <a:cs typeface="Arial" pitchFamily="34" charset="0"/>
              </a:rPr>
              <a:t>customer </a:t>
            </a:r>
            <a:r>
              <a:rPr lang="en-US" sz="2000" dirty="0" smtClean="0">
                <a:solidFill>
                  <a:schemeClr val="tx1">
                    <a:lumMod val="75000"/>
                    <a:lumOff val="25000"/>
                  </a:schemeClr>
                </a:solidFill>
                <a:latin typeface="Arial" pitchFamily="34" charset="0"/>
                <a:cs typeface="Arial" pitchFamily="34" charset="0"/>
              </a:rPr>
              <a:t>performance.</a:t>
            </a:r>
            <a:endParaRPr lang="en-US" sz="2000" dirty="0" smtClean="0">
              <a:solidFill>
                <a:schemeClr val="tx1">
                  <a:lumMod val="75000"/>
                  <a:lumOff val="25000"/>
                </a:schemeClr>
              </a:solidFill>
              <a:latin typeface="Arial" pitchFamily="34" charset="0"/>
              <a:cs typeface="Arial" pitchFamily="34" charset="0"/>
            </a:endParaRP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Category-level </a:t>
            </a:r>
            <a:r>
              <a:rPr lang="en-US" sz="2000" dirty="0" smtClean="0">
                <a:solidFill>
                  <a:schemeClr val="tx1">
                    <a:lumMod val="75000"/>
                    <a:lumOff val="25000"/>
                  </a:schemeClr>
                </a:solidFill>
                <a:latin typeface="Arial" pitchFamily="34" charset="0"/>
                <a:cs typeface="Arial" pitchFamily="34" charset="0"/>
              </a:rPr>
              <a:t>revenue and sales </a:t>
            </a:r>
            <a:r>
              <a:rPr lang="en-US" sz="2000" dirty="0" smtClean="0">
                <a:solidFill>
                  <a:schemeClr val="tx1">
                    <a:lumMod val="75000"/>
                    <a:lumOff val="25000"/>
                  </a:schemeClr>
                </a:solidFill>
                <a:latin typeface="Arial" pitchFamily="34" charset="0"/>
                <a:cs typeface="Arial" pitchFamily="34" charset="0"/>
              </a:rPr>
              <a:t>insights.</a:t>
            </a:r>
            <a:endParaRPr lang="en-US" sz="2000" dirty="0" smtClean="0">
              <a:solidFill>
                <a:schemeClr val="tx1">
                  <a:lumMod val="75000"/>
                  <a:lumOff val="25000"/>
                </a:schemeClr>
              </a:solidFill>
              <a:latin typeface="Arial" pitchFamily="34" charset="0"/>
              <a:cs typeface="Arial" pitchFamily="34" charset="0"/>
            </a:endParaRP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Payment </a:t>
            </a:r>
            <a:r>
              <a:rPr lang="en-US" sz="2000" dirty="0" smtClean="0">
                <a:solidFill>
                  <a:schemeClr val="tx1">
                    <a:lumMod val="75000"/>
                    <a:lumOff val="25000"/>
                  </a:schemeClr>
                </a:solidFill>
                <a:latin typeface="Arial" pitchFamily="34" charset="0"/>
                <a:cs typeface="Arial" pitchFamily="34" charset="0"/>
              </a:rPr>
              <a:t>method usage and </a:t>
            </a:r>
            <a:r>
              <a:rPr lang="en-US" sz="2000" dirty="0" smtClean="0">
                <a:solidFill>
                  <a:schemeClr val="tx1">
                    <a:lumMod val="75000"/>
                    <a:lumOff val="25000"/>
                  </a:schemeClr>
                </a:solidFill>
                <a:latin typeface="Arial" pitchFamily="34" charset="0"/>
                <a:cs typeface="Arial" pitchFamily="34" charset="0"/>
              </a:rPr>
              <a:t>preferences.</a:t>
            </a:r>
            <a:endParaRPr lang="en-US" sz="2000" dirty="0" smtClean="0">
              <a:solidFill>
                <a:schemeClr val="tx1">
                  <a:lumMod val="75000"/>
                  <a:lumOff val="25000"/>
                </a:schemeClr>
              </a:solidFill>
              <a:latin typeface="Arial" pitchFamily="34" charset="0"/>
              <a:cs typeface="Arial" pitchFamily="34" charset="0"/>
            </a:endParaRPr>
          </a:p>
          <a:p>
            <a:pPr algn="l"/>
            <a:r>
              <a:rPr lang="en-US" sz="2000" dirty="0" smtClean="0">
                <a:solidFill>
                  <a:schemeClr val="tx1">
                    <a:lumMod val="75000"/>
                    <a:lumOff val="25000"/>
                  </a:schemeClr>
                </a:solidFill>
                <a:latin typeface="Arial" pitchFamily="34" charset="0"/>
                <a:cs typeface="Arial" pitchFamily="34" charset="0"/>
              </a:rPr>
              <a:t>	</a:t>
            </a:r>
            <a:r>
              <a:rPr lang="en-US" sz="2000" dirty="0" smtClean="0"/>
              <a:t> </a:t>
            </a:r>
            <a:r>
              <a:rPr lang="en-US" sz="2000" dirty="0" smtClean="0">
                <a:solidFill>
                  <a:srgbClr val="C00000"/>
                </a:solidFill>
              </a:rPr>
              <a:t>➤</a:t>
            </a:r>
            <a:r>
              <a:rPr lang="en-US" sz="2000" dirty="0" smtClean="0"/>
              <a:t> </a:t>
            </a:r>
            <a:r>
              <a:rPr lang="en-US" sz="2000" dirty="0" smtClean="0">
                <a:solidFill>
                  <a:schemeClr val="tx1">
                    <a:lumMod val="75000"/>
                    <a:lumOff val="25000"/>
                  </a:schemeClr>
                </a:solidFill>
                <a:latin typeface="Arial" pitchFamily="34" charset="0"/>
                <a:cs typeface="Arial" pitchFamily="34" charset="0"/>
              </a:rPr>
              <a:t>Monthly </a:t>
            </a:r>
            <a:r>
              <a:rPr lang="en-US" sz="2000" dirty="0" smtClean="0">
                <a:solidFill>
                  <a:schemeClr val="tx1">
                    <a:lumMod val="75000"/>
                    <a:lumOff val="25000"/>
                  </a:schemeClr>
                </a:solidFill>
                <a:latin typeface="Arial" pitchFamily="34" charset="0"/>
                <a:cs typeface="Arial" pitchFamily="34" charset="0"/>
              </a:rPr>
              <a:t>revenue trends and </a:t>
            </a:r>
            <a:r>
              <a:rPr lang="en-US" sz="2000" dirty="0" smtClean="0">
                <a:solidFill>
                  <a:schemeClr val="tx1">
                    <a:lumMod val="75000"/>
                    <a:lumOff val="25000"/>
                  </a:schemeClr>
                </a:solidFill>
                <a:latin typeface="Arial" pitchFamily="34" charset="0"/>
                <a:cs typeface="Arial" pitchFamily="34" charset="0"/>
              </a:rPr>
              <a:t>seasonality.</a:t>
            </a:r>
            <a:endParaRPr lang="en-US" sz="2000" dirty="0" smtClean="0">
              <a:solidFill>
                <a:schemeClr val="tx1">
                  <a:lumMod val="75000"/>
                  <a:lumOff val="25000"/>
                </a:schemeClr>
              </a:solidFill>
              <a:latin typeface="Arial" pitchFamily="34" charset="0"/>
              <a:cs typeface="Arial" pitchFamily="34" charset="0"/>
            </a:endParaRPr>
          </a:p>
          <a:p>
            <a:pPr algn="just"/>
            <a:endParaRPr lang="en-US" sz="2000" dirty="0" smtClean="0"/>
          </a:p>
          <a:p>
            <a:pPr algn="just"/>
            <a:endParaRPr lang="en-US" sz="2000" b="1" dirty="0" smtClean="0">
              <a:solidFill>
                <a:schemeClr val="tx1"/>
              </a:solidFill>
              <a:latin typeface="Arial" pitchFamily="34" charset="0"/>
              <a:cs typeface="Arial" pitchFamily="34"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251520" y="1727919"/>
            <a:ext cx="8640960" cy="2304256"/>
          </a:xfrm>
        </p:spPr>
        <p:txBody>
          <a:bodyPr>
            <a:normAutofit fontScale="92500" lnSpcReduction="10000"/>
          </a:bodyPr>
          <a:lstStyle/>
          <a:p>
            <a:pPr algn="l"/>
            <a:r>
              <a:rPr lang="en-IN" sz="3800" b="1" dirty="0" smtClean="0">
                <a:solidFill>
                  <a:srgbClr val="FF0000"/>
                </a:solidFill>
                <a:latin typeface="Arial" pitchFamily="34" charset="0"/>
                <a:cs typeface="Arial" pitchFamily="34" charset="0"/>
              </a:rPr>
              <a:t>Tools Used </a:t>
            </a:r>
            <a:r>
              <a:rPr lang="en-IN" sz="3800" b="1" dirty="0" smtClean="0">
                <a:solidFill>
                  <a:srgbClr val="FF0000"/>
                </a:solidFill>
                <a:latin typeface="Arial" pitchFamily="34" charset="0"/>
                <a:cs typeface="Arial" pitchFamily="34" charset="0"/>
              </a:rPr>
              <a:t>:</a:t>
            </a:r>
            <a:endParaRPr lang="en-IN" sz="3800" b="1" dirty="0" smtClean="0">
              <a:solidFill>
                <a:srgbClr val="FF0000"/>
              </a:solidFill>
              <a:latin typeface="Arial" pitchFamily="34" charset="0"/>
              <a:cs typeface="Arial" pitchFamily="34" charset="0"/>
            </a:endParaRPr>
          </a:p>
          <a:p>
            <a:pPr algn="l"/>
            <a:r>
              <a:rPr lang="en-IN" b="1" dirty="0">
                <a:solidFill>
                  <a:schemeClr val="tx1"/>
                </a:solidFill>
                <a:latin typeface="Arial" pitchFamily="34" charset="0"/>
                <a:cs typeface="Arial" pitchFamily="34" charset="0"/>
              </a:rPr>
              <a:t>	</a:t>
            </a:r>
            <a:r>
              <a:rPr lang="en-IN" sz="2400" b="1" dirty="0" smtClean="0">
                <a:solidFill>
                  <a:schemeClr val="tx1"/>
                </a:solidFill>
                <a:latin typeface="Times New Roman" pitchFamily="18" charset="0"/>
                <a:cs typeface="Times New Roman" pitchFamily="18" charset="0"/>
              </a:rPr>
              <a:t>1. </a:t>
            </a:r>
            <a:r>
              <a:rPr lang="en-US" sz="2400" b="1" dirty="0" smtClean="0">
                <a:solidFill>
                  <a:srgbClr val="C00000"/>
                </a:solidFill>
                <a:latin typeface="Times New Roman" pitchFamily="18" charset="0"/>
                <a:cs typeface="Times New Roman" pitchFamily="18" charset="0"/>
              </a:rPr>
              <a:t>SQL</a:t>
            </a:r>
            <a:r>
              <a:rPr lang="en-US" sz="2400" b="1" dirty="0" smtClean="0">
                <a:solidFill>
                  <a:srgbClr val="C00000"/>
                </a:solidFill>
                <a:latin typeface="Times New Roman" pitchFamily="18" charset="0"/>
                <a:cs typeface="Times New Roman" pitchFamily="18" charset="0"/>
              </a:rPr>
              <a:t>: </a:t>
            </a:r>
            <a:r>
              <a:rPr lang="en-US" sz="2400" dirty="0" smtClean="0">
                <a:solidFill>
                  <a:schemeClr val="tx1">
                    <a:lumMod val="65000"/>
                    <a:lumOff val="35000"/>
                  </a:schemeClr>
                </a:solidFill>
                <a:latin typeface="Times New Roman" pitchFamily="18" charset="0"/>
                <a:cs typeface="Times New Roman" pitchFamily="18" charset="0"/>
              </a:rPr>
              <a:t>Data exploration, querying, aggregations</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r>
              <a:rPr lang="en-US" sz="2400" b="1" dirty="0" smtClean="0">
                <a:solidFill>
                  <a:schemeClr val="tx1"/>
                </a:solidFill>
                <a:latin typeface="Times New Roman" pitchFamily="18" charset="0"/>
                <a:cs typeface="Times New Roman" pitchFamily="18" charset="0"/>
              </a:rPr>
              <a:t>2. </a:t>
            </a:r>
            <a:r>
              <a:rPr lang="en-US" sz="2400" b="1" dirty="0" smtClean="0">
                <a:solidFill>
                  <a:srgbClr val="C00000"/>
                </a:solidFill>
                <a:latin typeface="Times New Roman" pitchFamily="18" charset="0"/>
                <a:cs typeface="Times New Roman" pitchFamily="18" charset="0"/>
              </a:rPr>
              <a:t>Power </a:t>
            </a:r>
            <a:r>
              <a:rPr lang="en-US" sz="2400" b="1" dirty="0" smtClean="0">
                <a:solidFill>
                  <a:srgbClr val="C00000"/>
                </a:solidFill>
                <a:latin typeface="Times New Roman" pitchFamily="18" charset="0"/>
                <a:cs typeface="Times New Roman" pitchFamily="18" charset="0"/>
              </a:rPr>
              <a:t>BI</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dirty="0" smtClean="0">
                <a:solidFill>
                  <a:schemeClr val="tx1">
                    <a:lumMod val="65000"/>
                    <a:lumOff val="35000"/>
                  </a:schemeClr>
                </a:solidFill>
                <a:latin typeface="Times New Roman" pitchFamily="18" charset="0"/>
                <a:cs typeface="Times New Roman" pitchFamily="18" charset="0"/>
              </a:rPr>
              <a:t>Dashboard design, visuals, KPI tracking</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r>
              <a:rPr lang="en-US" sz="2400" b="1" dirty="0" smtClean="0">
                <a:solidFill>
                  <a:schemeClr val="tx1"/>
                </a:solidFill>
                <a:latin typeface="Times New Roman" pitchFamily="18" charset="0"/>
                <a:cs typeface="Times New Roman" pitchFamily="18" charset="0"/>
              </a:rPr>
              <a:t>3. </a:t>
            </a:r>
            <a:r>
              <a:rPr lang="en-US" sz="2400" b="1" dirty="0" smtClean="0">
                <a:solidFill>
                  <a:srgbClr val="C00000"/>
                </a:solidFill>
                <a:latin typeface="Times New Roman" pitchFamily="18" charset="0"/>
                <a:cs typeface="Times New Roman" pitchFamily="18" charset="0"/>
              </a:rPr>
              <a:t>Power </a:t>
            </a:r>
            <a:r>
              <a:rPr lang="en-US" sz="2400" b="1" dirty="0" smtClean="0">
                <a:solidFill>
                  <a:srgbClr val="C00000"/>
                </a:solidFill>
                <a:latin typeface="Times New Roman" pitchFamily="18" charset="0"/>
                <a:cs typeface="Times New Roman" pitchFamily="18" charset="0"/>
              </a:rPr>
              <a:t>Query:</a:t>
            </a:r>
            <a:r>
              <a:rPr lang="en-US" sz="2400" dirty="0" smtClean="0">
                <a:solidFill>
                  <a:srgbClr val="C00000"/>
                </a:solidFill>
                <a:latin typeface="Times New Roman" pitchFamily="18" charset="0"/>
                <a:cs typeface="Times New Roman" pitchFamily="18" charset="0"/>
              </a:rPr>
              <a:t> </a:t>
            </a:r>
            <a:r>
              <a:rPr lang="en-US" sz="2400" dirty="0" smtClean="0">
                <a:solidFill>
                  <a:schemeClr val="tx1">
                    <a:lumMod val="65000"/>
                    <a:lumOff val="35000"/>
                  </a:schemeClr>
                </a:solidFill>
                <a:latin typeface="Times New Roman" pitchFamily="18" charset="0"/>
                <a:cs typeface="Times New Roman" pitchFamily="18" charset="0"/>
              </a:rPr>
              <a:t>Data cleaning &amp; transformation</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r>
              <a:rPr lang="en-US" sz="2400" b="1" dirty="0" smtClean="0">
                <a:solidFill>
                  <a:schemeClr val="tx1"/>
                </a:solidFill>
                <a:latin typeface="Times New Roman" pitchFamily="18" charset="0"/>
                <a:cs typeface="Times New Roman" pitchFamily="18" charset="0"/>
              </a:rPr>
              <a:t>4. </a:t>
            </a:r>
            <a:r>
              <a:rPr lang="en-US" sz="2400" b="1" dirty="0" smtClean="0">
                <a:solidFill>
                  <a:srgbClr val="C00000"/>
                </a:solidFill>
                <a:latin typeface="Times New Roman" pitchFamily="18" charset="0"/>
                <a:cs typeface="Times New Roman" pitchFamily="18" charset="0"/>
              </a:rPr>
              <a:t>DAX</a:t>
            </a:r>
            <a:r>
              <a:rPr lang="en-US" sz="2400" b="1" dirty="0" smtClean="0">
                <a:solidFill>
                  <a:srgbClr val="C00000"/>
                </a:solidFill>
                <a:latin typeface="Times New Roman" pitchFamily="18" charset="0"/>
                <a:cs typeface="Times New Roman" pitchFamily="18" charset="0"/>
              </a:rPr>
              <a:t>:</a:t>
            </a:r>
            <a:r>
              <a:rPr lang="en-US" sz="2400" dirty="0" smtClean="0">
                <a:solidFill>
                  <a:srgbClr val="C00000"/>
                </a:solidFill>
                <a:latin typeface="Times New Roman" pitchFamily="18" charset="0"/>
                <a:cs typeface="Times New Roman" pitchFamily="18" charset="0"/>
              </a:rPr>
              <a:t> </a:t>
            </a:r>
            <a:r>
              <a:rPr lang="en-US" sz="2400" dirty="0" smtClean="0">
                <a:solidFill>
                  <a:schemeClr val="tx1">
                    <a:lumMod val="65000"/>
                    <a:lumOff val="35000"/>
                  </a:schemeClr>
                </a:solidFill>
                <a:latin typeface="Times New Roman" pitchFamily="18" charset="0"/>
                <a:cs typeface="Times New Roman" pitchFamily="18" charset="0"/>
              </a:rPr>
              <a:t>Measures for dynamic analysis</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r>
              <a:rPr lang="en-US" sz="2400" b="1" dirty="0" smtClean="0">
                <a:solidFill>
                  <a:schemeClr val="tx1"/>
                </a:solidFill>
                <a:latin typeface="Times New Roman" pitchFamily="18" charset="0"/>
                <a:cs typeface="Times New Roman" pitchFamily="18" charset="0"/>
              </a:rPr>
              <a:t>5. </a:t>
            </a:r>
            <a:r>
              <a:rPr lang="en-US" sz="2400" b="1" dirty="0" smtClean="0">
                <a:solidFill>
                  <a:srgbClr val="C00000"/>
                </a:solidFill>
                <a:latin typeface="Times New Roman" pitchFamily="18" charset="0"/>
                <a:cs typeface="Times New Roman" pitchFamily="18" charset="0"/>
              </a:rPr>
              <a:t>Excel/CSV</a:t>
            </a:r>
            <a:r>
              <a:rPr lang="en-US" sz="2400" b="1" dirty="0" smtClean="0">
                <a:solidFill>
                  <a:srgbClr val="C00000"/>
                </a:solidFill>
                <a:latin typeface="Times New Roman" pitchFamily="18" charset="0"/>
                <a:cs typeface="Times New Roman" pitchFamily="18" charset="0"/>
              </a:rPr>
              <a:t>:</a:t>
            </a:r>
            <a:r>
              <a:rPr lang="en-US" sz="2400" dirty="0" smtClean="0">
                <a:solidFill>
                  <a:srgbClr val="C00000"/>
                </a:solidFill>
                <a:latin typeface="Times New Roman" pitchFamily="18" charset="0"/>
                <a:cs typeface="Times New Roman" pitchFamily="18" charset="0"/>
              </a:rPr>
              <a:t> </a:t>
            </a:r>
            <a:r>
              <a:rPr lang="en-US" sz="2400" dirty="0" smtClean="0">
                <a:solidFill>
                  <a:schemeClr val="tx1">
                    <a:lumMod val="65000"/>
                    <a:lumOff val="35000"/>
                  </a:schemeClr>
                </a:solidFill>
                <a:latin typeface="Times New Roman" pitchFamily="18" charset="0"/>
                <a:cs typeface="Times New Roman" pitchFamily="18" charset="0"/>
              </a:rPr>
              <a:t>Exporting data from SQL</a:t>
            </a:r>
            <a:endParaRPr lang="en-US" sz="2400" b="1" dirty="0">
              <a:solidFill>
                <a:schemeClr val="tx1">
                  <a:lumMod val="65000"/>
                  <a:lumOff val="35000"/>
                </a:schemeClr>
              </a:solidFill>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pngegg (45).png"/>
          <p:cNvPicPr>
            <a:picLocks noChangeAspect="1"/>
          </p:cNvPicPr>
          <p:nvPr/>
        </p:nvPicPr>
        <p:blipFill>
          <a:blip r:embed="rId4" cstate="print"/>
          <a:stretch>
            <a:fillRect/>
          </a:stretch>
        </p:blipFill>
        <p:spPr>
          <a:xfrm>
            <a:off x="2915816" y="4315533"/>
            <a:ext cx="2708368" cy="1804874"/>
          </a:xfrm>
          <a:prstGeom prst="rect">
            <a:avLst/>
          </a:prstGeom>
        </p:spPr>
      </p:pic>
      <p:pic>
        <p:nvPicPr>
          <p:cNvPr id="6" name="Picture 5" descr="pngegg (44).png"/>
          <p:cNvPicPr>
            <a:picLocks noChangeAspect="1"/>
          </p:cNvPicPr>
          <p:nvPr/>
        </p:nvPicPr>
        <p:blipFill>
          <a:blip r:embed="rId5" cstate="print"/>
          <a:stretch>
            <a:fillRect/>
          </a:stretch>
        </p:blipFill>
        <p:spPr>
          <a:xfrm>
            <a:off x="5940152" y="4451995"/>
            <a:ext cx="1524396" cy="1524396"/>
          </a:xfrm>
          <a:prstGeom prst="rect">
            <a:avLst/>
          </a:prstGeom>
        </p:spPr>
      </p:pic>
      <p:pic>
        <p:nvPicPr>
          <p:cNvPr id="7" name="Picture 6" descr="pngegg (43).png"/>
          <p:cNvPicPr>
            <a:picLocks noChangeAspect="1"/>
          </p:cNvPicPr>
          <p:nvPr/>
        </p:nvPicPr>
        <p:blipFill>
          <a:blip r:embed="rId6" cstate="print"/>
          <a:stretch>
            <a:fillRect/>
          </a:stretch>
        </p:blipFill>
        <p:spPr>
          <a:xfrm>
            <a:off x="1259632" y="4392215"/>
            <a:ext cx="1440160" cy="144016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403648" y="1511896"/>
            <a:ext cx="6400800" cy="648072"/>
          </a:xfrm>
        </p:spPr>
        <p:txBody>
          <a:bodyPr/>
          <a:lstStyle/>
          <a:p>
            <a:r>
              <a:rPr lang="en-US" b="1" dirty="0" smtClean="0">
                <a:solidFill>
                  <a:srgbClr val="FF0000"/>
                </a:solidFill>
                <a:latin typeface="Arial" pitchFamily="34" charset="0"/>
                <a:cs typeface="Arial" pitchFamily="34" charset="0"/>
              </a:rPr>
              <a:t>Data Preparation Workflow</a:t>
            </a:r>
            <a:endParaRPr lang="en-US" b="1" dirty="0">
              <a:solidFill>
                <a:srgbClr val="FF0000"/>
              </a:solidFill>
              <a:latin typeface="Arial" pitchFamily="34" charset="0"/>
              <a:cs typeface="Arial" pitchFamily="34"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sp>
        <p:nvSpPr>
          <p:cNvPr id="10" name="Oval 9"/>
          <p:cNvSpPr/>
          <p:nvPr/>
        </p:nvSpPr>
        <p:spPr>
          <a:xfrm>
            <a:off x="323528" y="2375991"/>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smtClean="0"/>
              <a:t>Data Connection</a:t>
            </a:r>
            <a:endParaRPr lang="en-US" dirty="0"/>
          </a:p>
        </p:txBody>
      </p:sp>
      <p:sp>
        <p:nvSpPr>
          <p:cNvPr id="11" name="Oval 10"/>
          <p:cNvSpPr/>
          <p:nvPr/>
        </p:nvSpPr>
        <p:spPr>
          <a:xfrm>
            <a:off x="3275856" y="2375991"/>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SQL Data Exploration</a:t>
            </a:r>
            <a:endParaRPr lang="en-US" dirty="0"/>
          </a:p>
        </p:txBody>
      </p:sp>
      <p:sp>
        <p:nvSpPr>
          <p:cNvPr id="12" name="Oval 11"/>
          <p:cNvSpPr/>
          <p:nvPr/>
        </p:nvSpPr>
        <p:spPr>
          <a:xfrm>
            <a:off x="3275856" y="4320207"/>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Load into Power BI</a:t>
            </a:r>
            <a:endParaRPr lang="en-US" dirty="0"/>
          </a:p>
        </p:txBody>
      </p:sp>
      <p:sp>
        <p:nvSpPr>
          <p:cNvPr id="13" name="Oval 12"/>
          <p:cNvSpPr/>
          <p:nvPr/>
        </p:nvSpPr>
        <p:spPr>
          <a:xfrm>
            <a:off x="332321" y="4366618"/>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Export to Excel/CSV</a:t>
            </a:r>
            <a:endParaRPr lang="en-US" dirty="0"/>
          </a:p>
        </p:txBody>
      </p:sp>
      <p:sp>
        <p:nvSpPr>
          <p:cNvPr id="14" name="Oval 13"/>
          <p:cNvSpPr/>
          <p:nvPr/>
        </p:nvSpPr>
        <p:spPr>
          <a:xfrm>
            <a:off x="6300192" y="4320207"/>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Dashboard &amp; Insights</a:t>
            </a:r>
            <a:endParaRPr lang="en-US" dirty="0"/>
          </a:p>
        </p:txBody>
      </p:sp>
      <p:sp>
        <p:nvSpPr>
          <p:cNvPr id="15" name="Oval 14"/>
          <p:cNvSpPr/>
          <p:nvPr/>
        </p:nvSpPr>
        <p:spPr>
          <a:xfrm>
            <a:off x="6300192" y="2303983"/>
            <a:ext cx="2448272" cy="10801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SQL Analysis (10 Tasks)</a:t>
            </a:r>
            <a:endParaRPr lang="en-US" dirty="0"/>
          </a:p>
        </p:txBody>
      </p:sp>
      <p:sp>
        <p:nvSpPr>
          <p:cNvPr id="19" name="Down Arrow 18"/>
          <p:cNvSpPr/>
          <p:nvPr/>
        </p:nvSpPr>
        <p:spPr>
          <a:xfrm>
            <a:off x="7308304" y="3600127"/>
            <a:ext cx="288032" cy="504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Left Arrow 19"/>
          <p:cNvSpPr/>
          <p:nvPr/>
        </p:nvSpPr>
        <p:spPr>
          <a:xfrm>
            <a:off x="5796136" y="4752255"/>
            <a:ext cx="360040" cy="2160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Arrow 20"/>
          <p:cNvSpPr/>
          <p:nvPr/>
        </p:nvSpPr>
        <p:spPr>
          <a:xfrm>
            <a:off x="2843808" y="4752255"/>
            <a:ext cx="360040" cy="2160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a:off x="2843808" y="2808039"/>
            <a:ext cx="360040"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a:off x="5796136" y="2808039"/>
            <a:ext cx="43204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395536" y="1511895"/>
            <a:ext cx="8352928" cy="4824536"/>
          </a:xfrm>
        </p:spPr>
        <p:txBody>
          <a:bodyPr>
            <a:normAutofit fontScale="92500" lnSpcReduction="10000"/>
          </a:bodyPr>
          <a:lstStyle/>
          <a:p>
            <a:r>
              <a:rPr lang="en-US" b="1" dirty="0" smtClean="0">
                <a:solidFill>
                  <a:srgbClr val="FF0000"/>
                </a:solidFill>
                <a:latin typeface="Arial" pitchFamily="34" charset="0"/>
                <a:cs typeface="Arial" pitchFamily="34" charset="0"/>
              </a:rPr>
              <a:t>Business Problem Analyzed</a:t>
            </a:r>
          </a:p>
          <a:p>
            <a:pPr algn="l"/>
            <a:r>
              <a:rPr lang="en-IN" sz="2400" b="1" dirty="0" smtClean="0">
                <a:solidFill>
                  <a:schemeClr val="tx1"/>
                </a:solidFill>
                <a:latin typeface="Arial" pitchFamily="34" charset="0"/>
                <a:cs typeface="Arial" pitchFamily="34" charset="0"/>
              </a:rPr>
              <a:t>Task:</a:t>
            </a:r>
          </a:p>
          <a:p>
            <a:pPr lvl="0" algn="l" fontAlgn="base"/>
            <a:r>
              <a:rPr lang="en-IN" sz="2400" b="1" dirty="0" smtClean="0">
                <a:solidFill>
                  <a:schemeClr val="tx1"/>
                </a:solidFill>
                <a:latin typeface="Arial" pitchFamily="34" charset="0"/>
                <a:cs typeface="Arial" pitchFamily="34" charset="0"/>
              </a:rPr>
              <a:t>   </a:t>
            </a:r>
            <a:r>
              <a:rPr lang="en-IN" sz="2400" dirty="0" smtClean="0">
                <a:solidFill>
                  <a:srgbClr val="C00000"/>
                </a:solidFill>
                <a:latin typeface="Times New Roman" pitchFamily="18" charset="0"/>
                <a:cs typeface="Times New Roman" pitchFamily="18" charset="0"/>
              </a:rPr>
              <a:t>1.How </a:t>
            </a:r>
            <a:r>
              <a:rPr lang="en-IN" sz="2400" dirty="0">
                <a:solidFill>
                  <a:srgbClr val="C00000"/>
                </a:solidFill>
                <a:latin typeface="Times New Roman" pitchFamily="18" charset="0"/>
                <a:cs typeface="Times New Roman" pitchFamily="18" charset="0"/>
              </a:rPr>
              <a:t>is the shopping distribution according to gender? </a:t>
            </a:r>
          </a:p>
          <a:p>
            <a:pPr lvl="0" algn="l" fontAlgn="base"/>
            <a:r>
              <a:rPr lang="en-IN" sz="2400" dirty="0">
                <a:solidFill>
                  <a:srgbClr val="C00000"/>
                </a:solidFill>
                <a:latin typeface="Times New Roman" pitchFamily="18" charset="0"/>
                <a:cs typeface="Times New Roman" pitchFamily="18" charset="0"/>
              </a:rPr>
              <a:t> </a:t>
            </a:r>
            <a:r>
              <a:rPr lang="en-IN" sz="2400" dirty="0" smtClean="0">
                <a:solidFill>
                  <a:srgbClr val="C00000"/>
                </a:solidFill>
                <a:latin typeface="Times New Roman" pitchFamily="18" charset="0"/>
                <a:cs typeface="Times New Roman" pitchFamily="18" charset="0"/>
              </a:rPr>
              <a:t>  2.Which </a:t>
            </a:r>
            <a:r>
              <a:rPr lang="en-IN" sz="2400" dirty="0">
                <a:solidFill>
                  <a:srgbClr val="C00000"/>
                </a:solidFill>
                <a:latin typeface="Times New Roman" pitchFamily="18" charset="0"/>
                <a:cs typeface="Times New Roman" pitchFamily="18" charset="0"/>
              </a:rPr>
              <a:t>gender did we sell more products to? </a:t>
            </a:r>
          </a:p>
          <a:p>
            <a:pPr lvl="0" algn="l" fontAlgn="base"/>
            <a:r>
              <a:rPr lang="en-IN" sz="2400" dirty="0" smtClean="0">
                <a:solidFill>
                  <a:srgbClr val="C00000"/>
                </a:solidFill>
                <a:latin typeface="Times New Roman" pitchFamily="18" charset="0"/>
                <a:cs typeface="Times New Roman" pitchFamily="18" charset="0"/>
              </a:rPr>
              <a:t>   3.Which </a:t>
            </a:r>
            <a:r>
              <a:rPr lang="en-IN" sz="2400" dirty="0">
                <a:solidFill>
                  <a:srgbClr val="C00000"/>
                </a:solidFill>
                <a:latin typeface="Times New Roman" pitchFamily="18" charset="0"/>
                <a:cs typeface="Times New Roman" pitchFamily="18" charset="0"/>
              </a:rPr>
              <a:t>gender generated more revenue? </a:t>
            </a:r>
          </a:p>
          <a:p>
            <a:pPr lvl="0" algn="l" fontAlgn="base"/>
            <a:r>
              <a:rPr lang="en-IN" sz="2400" dirty="0" smtClean="0">
                <a:solidFill>
                  <a:srgbClr val="C00000"/>
                </a:solidFill>
                <a:latin typeface="Times New Roman" pitchFamily="18" charset="0"/>
                <a:cs typeface="Times New Roman" pitchFamily="18" charset="0"/>
              </a:rPr>
              <a:t>   4.Distribution </a:t>
            </a:r>
            <a:r>
              <a:rPr lang="en-IN" sz="2400" dirty="0">
                <a:solidFill>
                  <a:srgbClr val="C00000"/>
                </a:solidFill>
                <a:latin typeface="Times New Roman" pitchFamily="18" charset="0"/>
                <a:cs typeface="Times New Roman" pitchFamily="18" charset="0"/>
              </a:rPr>
              <a:t>of purchase categories relative to other columns? </a:t>
            </a:r>
          </a:p>
          <a:p>
            <a:pPr lvl="0" algn="l" fontAlgn="base"/>
            <a:r>
              <a:rPr lang="en-IN" sz="2400" dirty="0" smtClean="0">
                <a:solidFill>
                  <a:srgbClr val="C00000"/>
                </a:solidFill>
                <a:latin typeface="Times New Roman" pitchFamily="18" charset="0"/>
                <a:cs typeface="Times New Roman" pitchFamily="18" charset="0"/>
              </a:rPr>
              <a:t>   5.How </a:t>
            </a:r>
            <a:r>
              <a:rPr lang="en-IN" sz="2400" dirty="0">
                <a:solidFill>
                  <a:srgbClr val="C00000"/>
                </a:solidFill>
                <a:latin typeface="Times New Roman" pitchFamily="18" charset="0"/>
                <a:cs typeface="Times New Roman" pitchFamily="18" charset="0"/>
              </a:rPr>
              <a:t>is the shopping distribution according to age? </a:t>
            </a:r>
          </a:p>
          <a:p>
            <a:pPr lvl="0" algn="l" fontAlgn="base"/>
            <a:r>
              <a:rPr lang="en-IN" sz="2400" dirty="0" smtClean="0">
                <a:solidFill>
                  <a:srgbClr val="C00000"/>
                </a:solidFill>
                <a:latin typeface="Times New Roman" pitchFamily="18" charset="0"/>
                <a:cs typeface="Times New Roman" pitchFamily="18" charset="0"/>
              </a:rPr>
              <a:t>   6.Which </a:t>
            </a:r>
            <a:r>
              <a:rPr lang="en-IN" sz="2400" dirty="0">
                <a:solidFill>
                  <a:srgbClr val="C00000"/>
                </a:solidFill>
                <a:latin typeface="Times New Roman" pitchFamily="18" charset="0"/>
                <a:cs typeface="Times New Roman" pitchFamily="18" charset="0"/>
              </a:rPr>
              <a:t>age cat did we sell more products to? </a:t>
            </a:r>
          </a:p>
          <a:p>
            <a:pPr lvl="0" algn="l" fontAlgn="base"/>
            <a:r>
              <a:rPr lang="en-IN" sz="2400" dirty="0" smtClean="0">
                <a:solidFill>
                  <a:srgbClr val="C00000"/>
                </a:solidFill>
                <a:latin typeface="Times New Roman" pitchFamily="18" charset="0"/>
                <a:cs typeface="Times New Roman" pitchFamily="18" charset="0"/>
              </a:rPr>
              <a:t>   7.Which </a:t>
            </a:r>
            <a:r>
              <a:rPr lang="en-IN" sz="2400" dirty="0">
                <a:solidFill>
                  <a:srgbClr val="C00000"/>
                </a:solidFill>
                <a:latin typeface="Times New Roman" pitchFamily="18" charset="0"/>
                <a:cs typeface="Times New Roman" pitchFamily="18" charset="0"/>
              </a:rPr>
              <a:t>age cat generated more revenue? </a:t>
            </a:r>
          </a:p>
          <a:p>
            <a:pPr lvl="0" algn="l" fontAlgn="base"/>
            <a:r>
              <a:rPr lang="en-IN" sz="2400" dirty="0" smtClean="0">
                <a:solidFill>
                  <a:srgbClr val="C00000"/>
                </a:solidFill>
                <a:latin typeface="Times New Roman" pitchFamily="18" charset="0"/>
                <a:cs typeface="Times New Roman" pitchFamily="18" charset="0"/>
              </a:rPr>
              <a:t>   8.Distribution </a:t>
            </a:r>
            <a:r>
              <a:rPr lang="en-IN" sz="2400" dirty="0">
                <a:solidFill>
                  <a:srgbClr val="C00000"/>
                </a:solidFill>
                <a:latin typeface="Times New Roman" pitchFamily="18" charset="0"/>
                <a:cs typeface="Times New Roman" pitchFamily="18" charset="0"/>
              </a:rPr>
              <a:t>of purchase categories relative to other columns? </a:t>
            </a:r>
          </a:p>
          <a:p>
            <a:pPr lvl="0" algn="l" fontAlgn="base"/>
            <a:r>
              <a:rPr lang="en-IN" sz="2400" dirty="0" smtClean="0">
                <a:solidFill>
                  <a:srgbClr val="C00000"/>
                </a:solidFill>
                <a:latin typeface="Times New Roman" pitchFamily="18" charset="0"/>
                <a:cs typeface="Times New Roman" pitchFamily="18" charset="0"/>
              </a:rPr>
              <a:t>   9.Does </a:t>
            </a:r>
            <a:r>
              <a:rPr lang="en-IN" sz="2400" dirty="0">
                <a:solidFill>
                  <a:srgbClr val="C00000"/>
                </a:solidFill>
                <a:latin typeface="Times New Roman" pitchFamily="18" charset="0"/>
                <a:cs typeface="Times New Roman" pitchFamily="18" charset="0"/>
              </a:rPr>
              <a:t>the payment method have a relation with </a:t>
            </a:r>
            <a:r>
              <a:rPr lang="en-IN" sz="2400" dirty="0" smtClean="0">
                <a:solidFill>
                  <a:srgbClr val="C00000"/>
                </a:solidFill>
                <a:latin typeface="Times New Roman" pitchFamily="18" charset="0"/>
                <a:cs typeface="Times New Roman" pitchFamily="18" charset="0"/>
              </a:rPr>
              <a:t>other columns?</a:t>
            </a:r>
            <a:endParaRPr lang="en-IN" sz="2400" dirty="0">
              <a:solidFill>
                <a:srgbClr val="C00000"/>
              </a:solidFill>
              <a:latin typeface="Times New Roman" pitchFamily="18" charset="0"/>
              <a:cs typeface="Times New Roman" pitchFamily="18" charset="0"/>
            </a:endParaRPr>
          </a:p>
          <a:p>
            <a:pPr lvl="0" algn="l" fontAlgn="base"/>
            <a:r>
              <a:rPr lang="en-IN" sz="2400" dirty="0" smtClean="0">
                <a:solidFill>
                  <a:srgbClr val="C00000"/>
                </a:solidFill>
                <a:latin typeface="Times New Roman" pitchFamily="18" charset="0"/>
                <a:cs typeface="Times New Roman" pitchFamily="18" charset="0"/>
              </a:rPr>
              <a:t> 10.How </a:t>
            </a:r>
            <a:r>
              <a:rPr lang="en-IN" sz="2400" dirty="0">
                <a:solidFill>
                  <a:srgbClr val="C00000"/>
                </a:solidFill>
                <a:latin typeface="Times New Roman" pitchFamily="18" charset="0"/>
                <a:cs typeface="Times New Roman" pitchFamily="18" charset="0"/>
              </a:rPr>
              <a:t>is the distribution of the payment method? </a:t>
            </a:r>
          </a:p>
          <a:p>
            <a:pPr algn="l"/>
            <a:endParaRPr lang="en-US" sz="2400" b="1" dirty="0">
              <a:solidFill>
                <a:schemeClr val="tx1"/>
              </a:solidFill>
              <a:latin typeface="Arial" pitchFamily="34" charset="0"/>
              <a:cs typeface="Arial" pitchFamily="34"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856984" cy="1656045"/>
          </a:xfrm>
        </p:spPr>
        <p:txBody>
          <a:bodyPr/>
          <a:lstStyle/>
          <a:p>
            <a:pPr algn="l"/>
            <a:r>
              <a:rPr lang="en-IN" b="1" dirty="0" smtClean="0">
                <a:solidFill>
                  <a:srgbClr val="FF0000"/>
                </a:solidFill>
                <a:latin typeface="Arial" pitchFamily="34" charset="0"/>
                <a:cs typeface="Arial" pitchFamily="34" charset="0"/>
              </a:rPr>
              <a:t>Problem:</a:t>
            </a:r>
          </a:p>
          <a:p>
            <a:pPr lvl="0" algn="l"/>
            <a:r>
              <a:rPr lang="en-IN" dirty="0">
                <a:solidFill>
                  <a:srgbClr val="FF0000"/>
                </a:solidFill>
                <a:latin typeface="Arial" pitchFamily="34" charset="0"/>
                <a:cs typeface="Arial" pitchFamily="34" charset="0"/>
              </a:rPr>
              <a:t>	</a:t>
            </a:r>
            <a:r>
              <a:rPr lang="en-IN" dirty="0"/>
              <a:t> </a:t>
            </a:r>
            <a:r>
              <a:rPr lang="en-IN" sz="2400" dirty="0">
                <a:solidFill>
                  <a:schemeClr val="tx1">
                    <a:lumMod val="75000"/>
                    <a:lumOff val="25000"/>
                  </a:schemeClr>
                </a:solidFill>
                <a:latin typeface="Times New Roman" pitchFamily="18" charset="0"/>
                <a:cs typeface="Times New Roman" pitchFamily="18" charset="0"/>
              </a:rPr>
              <a:t>How is the shopping distribution according to gender? </a:t>
            </a:r>
          </a:p>
          <a:p>
            <a:pPr algn="l"/>
            <a:endParaRPr lang="en-US" dirty="0">
              <a:solidFill>
                <a:srgbClr val="FF0000"/>
              </a:solidFill>
              <a:latin typeface="Arial" pitchFamily="34" charset="0"/>
              <a:cs typeface="Arial" pitchFamily="34"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1.png"/>
          <p:cNvPicPr>
            <a:picLocks noChangeAspect="1"/>
          </p:cNvPicPr>
          <p:nvPr/>
        </p:nvPicPr>
        <p:blipFill>
          <a:blip r:embed="rId4" cstate="print"/>
          <a:stretch>
            <a:fillRect/>
          </a:stretch>
        </p:blipFill>
        <p:spPr>
          <a:xfrm>
            <a:off x="683568" y="2808039"/>
            <a:ext cx="3240360" cy="1085008"/>
          </a:xfrm>
          <a:prstGeom prst="rect">
            <a:avLst/>
          </a:prstGeom>
        </p:spPr>
      </p:pic>
      <p:pic>
        <p:nvPicPr>
          <p:cNvPr id="6" name="Picture 5" descr="1p.png"/>
          <p:cNvPicPr>
            <a:picLocks noChangeAspect="1"/>
          </p:cNvPicPr>
          <p:nvPr/>
        </p:nvPicPr>
        <p:blipFill>
          <a:blip r:embed="rId5" cstate="print"/>
          <a:stretch>
            <a:fillRect/>
          </a:stretch>
        </p:blipFill>
        <p:spPr>
          <a:xfrm>
            <a:off x="5436096" y="3024063"/>
            <a:ext cx="3240360" cy="3312368"/>
          </a:xfrm>
          <a:prstGeom prst="rect">
            <a:avLst/>
          </a:prstGeom>
        </p:spPr>
      </p:pic>
      <p:pic>
        <p:nvPicPr>
          <p:cNvPr id="18" name="Picture 17" descr="pngegg (49).png"/>
          <p:cNvPicPr>
            <a:picLocks noChangeAspect="1"/>
          </p:cNvPicPr>
          <p:nvPr/>
        </p:nvPicPr>
        <p:blipFill>
          <a:blip r:embed="rId6" cstate="print">
            <a:lum bright="40000"/>
          </a:blip>
          <a:stretch>
            <a:fillRect/>
          </a:stretch>
        </p:blipFill>
        <p:spPr>
          <a:xfrm>
            <a:off x="467544" y="4320207"/>
            <a:ext cx="4628503" cy="2159968"/>
          </a:xfrm>
          <a:prstGeom prst="rect">
            <a:avLst/>
          </a:prstGeom>
        </p:spPr>
      </p:pic>
      <p:sp>
        <p:nvSpPr>
          <p:cNvPr id="13" name="Rectangle 12"/>
          <p:cNvSpPr/>
          <p:nvPr/>
        </p:nvSpPr>
        <p:spPr>
          <a:xfrm>
            <a:off x="1115616" y="4608239"/>
            <a:ext cx="2880320"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One gender dominates shopping activity, showing stronger engagement and higher store interaction.</a:t>
            </a:r>
            <a:endParaRPr lang="en-US" sz="1600" b="1" dirty="0">
              <a:solidFill>
                <a:srgbClr val="00B050"/>
              </a:solidFill>
              <a:latin typeface="Arial" pitchFamily="34" charset="0"/>
              <a:cs typeface="Arial" pitchFamily="34" charset="0"/>
            </a:endParaRPr>
          </a:p>
        </p:txBody>
      </p:sp>
      <p:pic>
        <p:nvPicPr>
          <p:cNvPr id="17" name="Picture 16" descr="pngegg (47).png"/>
          <p:cNvPicPr>
            <a:picLocks noChangeAspect="1"/>
          </p:cNvPicPr>
          <p:nvPr/>
        </p:nvPicPr>
        <p:blipFill>
          <a:blip r:embed="rId7" cstate="print"/>
          <a:stretch>
            <a:fillRect/>
          </a:stretch>
        </p:blipFill>
        <p:spPr>
          <a:xfrm rot="4096798">
            <a:off x="4070444" y="3026563"/>
            <a:ext cx="1160726" cy="116072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1" name="Picture 10" descr="pngegg (49).png"/>
          <p:cNvPicPr>
            <a:picLocks noChangeAspect="1"/>
          </p:cNvPicPr>
          <p:nvPr/>
        </p:nvPicPr>
        <p:blipFill>
          <a:blip r:embed="rId3" cstate="print">
            <a:lum bright="40000"/>
          </a:blip>
          <a:stretch>
            <a:fillRect/>
          </a:stretch>
        </p:blipFill>
        <p:spPr>
          <a:xfrm>
            <a:off x="899592" y="4104183"/>
            <a:ext cx="4248472" cy="2375992"/>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712968"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Which gender did we sell more products to? </a:t>
            </a:r>
          </a:p>
          <a:p>
            <a:pPr lvl="0" algn="l"/>
            <a:endParaRPr lang="en-IN" sz="2400"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2.png"/>
          <p:cNvPicPr>
            <a:picLocks noChangeAspect="1"/>
          </p:cNvPicPr>
          <p:nvPr/>
        </p:nvPicPr>
        <p:blipFill>
          <a:blip r:embed="rId5" cstate="print"/>
          <a:stretch>
            <a:fillRect/>
          </a:stretch>
        </p:blipFill>
        <p:spPr>
          <a:xfrm>
            <a:off x="1115616" y="2808039"/>
            <a:ext cx="2808312" cy="1036076"/>
          </a:xfrm>
          <a:prstGeom prst="rect">
            <a:avLst/>
          </a:prstGeom>
        </p:spPr>
      </p:pic>
      <p:pic>
        <p:nvPicPr>
          <p:cNvPr id="6" name="Picture 5" descr="2p.png"/>
          <p:cNvPicPr>
            <a:picLocks noChangeAspect="1"/>
          </p:cNvPicPr>
          <p:nvPr/>
        </p:nvPicPr>
        <p:blipFill>
          <a:blip r:embed="rId6" cstate="print"/>
          <a:stretch>
            <a:fillRect/>
          </a:stretch>
        </p:blipFill>
        <p:spPr>
          <a:xfrm>
            <a:off x="5652120" y="2808039"/>
            <a:ext cx="2592288" cy="3398815"/>
          </a:xfrm>
          <a:prstGeom prst="rect">
            <a:avLst/>
          </a:prstGeom>
        </p:spPr>
      </p:pic>
      <p:sp>
        <p:nvSpPr>
          <p:cNvPr id="9" name="Rectangle 8"/>
          <p:cNvSpPr/>
          <p:nvPr/>
        </p:nvSpPr>
        <p:spPr>
          <a:xfrm>
            <a:off x="1331640" y="4539133"/>
            <a:ext cx="2880320"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Higher product quantity is driven by one gender, indicating stronger purchase frequency.</a:t>
            </a:r>
            <a:endParaRPr lang="en-US" sz="1600" b="1" dirty="0">
              <a:solidFill>
                <a:srgbClr val="00B050"/>
              </a:solidFill>
              <a:latin typeface="Arial" pitchFamily="34" charset="0"/>
              <a:cs typeface="Arial" pitchFamily="34" charset="0"/>
            </a:endParaRPr>
          </a:p>
        </p:txBody>
      </p:sp>
      <p:pic>
        <p:nvPicPr>
          <p:cNvPr id="10" name="Picture 9" descr="pngegg (47).png"/>
          <p:cNvPicPr>
            <a:picLocks noChangeAspect="1"/>
          </p:cNvPicPr>
          <p:nvPr/>
        </p:nvPicPr>
        <p:blipFill>
          <a:blip r:embed="rId7" cstate="print"/>
          <a:stretch>
            <a:fillRect/>
          </a:stretch>
        </p:blipFill>
        <p:spPr>
          <a:xfrm rot="4096798">
            <a:off x="4101798" y="3026563"/>
            <a:ext cx="1160726" cy="116072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3" name="Picture 12" descr="pngegg (49).png"/>
          <p:cNvPicPr>
            <a:picLocks noChangeAspect="1"/>
          </p:cNvPicPr>
          <p:nvPr/>
        </p:nvPicPr>
        <p:blipFill>
          <a:blip r:embed="rId3" cstate="print">
            <a:lum bright="40000"/>
          </a:blip>
          <a:stretch>
            <a:fillRect/>
          </a:stretch>
        </p:blipFill>
        <p:spPr>
          <a:xfrm>
            <a:off x="4895528" y="2447999"/>
            <a:ext cx="4248472" cy="2016224"/>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40026"/>
            <a:ext cx="8640960"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Which gender generated more revenue?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3.png"/>
          <p:cNvPicPr>
            <a:picLocks noChangeAspect="1"/>
          </p:cNvPicPr>
          <p:nvPr/>
        </p:nvPicPr>
        <p:blipFill>
          <a:blip r:embed="rId5" cstate="print"/>
          <a:stretch>
            <a:fillRect/>
          </a:stretch>
        </p:blipFill>
        <p:spPr>
          <a:xfrm>
            <a:off x="216543" y="2808039"/>
            <a:ext cx="2555257" cy="864096"/>
          </a:xfrm>
          <a:prstGeom prst="rect">
            <a:avLst/>
          </a:prstGeom>
        </p:spPr>
      </p:pic>
      <p:pic>
        <p:nvPicPr>
          <p:cNvPr id="6" name="Picture 5" descr="3p.png"/>
          <p:cNvPicPr>
            <a:picLocks noChangeAspect="1"/>
          </p:cNvPicPr>
          <p:nvPr/>
        </p:nvPicPr>
        <p:blipFill>
          <a:blip r:embed="rId6" cstate="print"/>
          <a:stretch>
            <a:fillRect/>
          </a:stretch>
        </p:blipFill>
        <p:spPr>
          <a:xfrm>
            <a:off x="2987824" y="4464223"/>
            <a:ext cx="5943172" cy="1800200"/>
          </a:xfrm>
          <a:prstGeom prst="rect">
            <a:avLst/>
          </a:prstGeom>
        </p:spPr>
      </p:pic>
      <p:sp>
        <p:nvSpPr>
          <p:cNvPr id="11" name="Rectangle 10"/>
          <p:cNvSpPr/>
          <p:nvPr/>
        </p:nvSpPr>
        <p:spPr>
          <a:xfrm>
            <a:off x="5364088" y="2708736"/>
            <a:ext cx="2664296" cy="1323439"/>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Revenue contribution is higher for one gender, revealing a more valuable customer segment.</a:t>
            </a:r>
            <a:endParaRPr lang="en-US" sz="1600" b="1" dirty="0">
              <a:solidFill>
                <a:srgbClr val="00B050"/>
              </a:solidFill>
              <a:latin typeface="Arial" pitchFamily="34" charset="0"/>
              <a:cs typeface="Arial" pitchFamily="34" charset="0"/>
            </a:endParaRPr>
          </a:p>
        </p:txBody>
      </p:sp>
      <p:pic>
        <p:nvPicPr>
          <p:cNvPr id="12" name="Picture 11" descr="pngegg (47).png"/>
          <p:cNvPicPr>
            <a:picLocks noChangeAspect="1"/>
          </p:cNvPicPr>
          <p:nvPr/>
        </p:nvPicPr>
        <p:blipFill>
          <a:blip r:embed="rId7" cstate="print"/>
          <a:stretch>
            <a:fillRect/>
          </a:stretch>
        </p:blipFill>
        <p:spPr>
          <a:xfrm rot="5702553">
            <a:off x="2798756" y="3348643"/>
            <a:ext cx="1002296" cy="100229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1" name="Picture 10" descr="pngegg (49).png"/>
          <p:cNvPicPr>
            <a:picLocks noChangeAspect="1"/>
          </p:cNvPicPr>
          <p:nvPr/>
        </p:nvPicPr>
        <p:blipFill>
          <a:blip r:embed="rId3" cstate="print">
            <a:lum bright="40000"/>
          </a:blip>
          <a:stretch>
            <a:fillRect/>
          </a:stretch>
        </p:blipFill>
        <p:spPr>
          <a:xfrm>
            <a:off x="899592" y="4536231"/>
            <a:ext cx="4248472" cy="1943944"/>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640960"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Distribution of purchase categories relative to other columns?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4.png"/>
          <p:cNvPicPr>
            <a:picLocks noChangeAspect="1"/>
          </p:cNvPicPr>
          <p:nvPr/>
        </p:nvPicPr>
        <p:blipFill>
          <a:blip r:embed="rId5" cstate="print"/>
          <a:stretch>
            <a:fillRect/>
          </a:stretch>
        </p:blipFill>
        <p:spPr>
          <a:xfrm>
            <a:off x="395536" y="2736031"/>
            <a:ext cx="3436918" cy="1630821"/>
          </a:xfrm>
          <a:prstGeom prst="rect">
            <a:avLst/>
          </a:prstGeom>
        </p:spPr>
      </p:pic>
      <p:pic>
        <p:nvPicPr>
          <p:cNvPr id="6" name="Picture 5" descr="4p.png"/>
          <p:cNvPicPr>
            <a:picLocks noChangeAspect="1"/>
          </p:cNvPicPr>
          <p:nvPr/>
        </p:nvPicPr>
        <p:blipFill>
          <a:blip r:embed="rId6" cstate="print"/>
          <a:stretch>
            <a:fillRect/>
          </a:stretch>
        </p:blipFill>
        <p:spPr>
          <a:xfrm>
            <a:off x="5436096" y="2736031"/>
            <a:ext cx="3240360" cy="3528392"/>
          </a:xfrm>
          <a:prstGeom prst="rect">
            <a:avLst/>
          </a:prstGeom>
        </p:spPr>
      </p:pic>
      <p:sp>
        <p:nvSpPr>
          <p:cNvPr id="9" name="Rectangle 8"/>
          <p:cNvSpPr/>
          <p:nvPr/>
        </p:nvSpPr>
        <p:spPr>
          <a:xfrm>
            <a:off x="1331640" y="4896271"/>
            <a:ext cx="2952328"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Top </a:t>
            </a:r>
            <a:r>
              <a:rPr lang="en-US" sz="1600" b="1" dirty="0" smtClean="0">
                <a:solidFill>
                  <a:srgbClr val="00B050"/>
                </a:solidFill>
                <a:latin typeface="Arial" pitchFamily="34" charset="0"/>
                <a:cs typeface="Arial" pitchFamily="34" charset="0"/>
              </a:rPr>
              <a:t>categories consistently outperform others across </a:t>
            </a:r>
            <a:r>
              <a:rPr lang="en-US" sz="1600" b="1" dirty="0" smtClean="0">
                <a:solidFill>
                  <a:srgbClr val="00B050"/>
                </a:solidFill>
                <a:latin typeface="Arial" pitchFamily="34" charset="0"/>
                <a:cs typeface="Arial" pitchFamily="34" charset="0"/>
              </a:rPr>
              <a:t>transaction, items, and revenue.</a:t>
            </a:r>
            <a:endParaRPr lang="en-US" sz="1600" b="1" dirty="0">
              <a:solidFill>
                <a:srgbClr val="00B050"/>
              </a:solidFill>
              <a:latin typeface="Arial" pitchFamily="34" charset="0"/>
              <a:cs typeface="Arial" pitchFamily="34" charset="0"/>
            </a:endParaRPr>
          </a:p>
        </p:txBody>
      </p:sp>
      <p:pic>
        <p:nvPicPr>
          <p:cNvPr id="10" name="Picture 9" descr="pngegg (47).png"/>
          <p:cNvPicPr>
            <a:picLocks noChangeAspect="1"/>
          </p:cNvPicPr>
          <p:nvPr/>
        </p:nvPicPr>
        <p:blipFill>
          <a:blip r:embed="rId7" cstate="print"/>
          <a:stretch>
            <a:fillRect/>
          </a:stretch>
        </p:blipFill>
        <p:spPr>
          <a:xfrm rot="4096798">
            <a:off x="4070444" y="3026563"/>
            <a:ext cx="1160726" cy="116072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2" name="Picture 11" descr="pngegg (49).png"/>
          <p:cNvPicPr>
            <a:picLocks noChangeAspect="1"/>
          </p:cNvPicPr>
          <p:nvPr/>
        </p:nvPicPr>
        <p:blipFill>
          <a:blip r:embed="rId3" cstate="print">
            <a:lum bright="40000"/>
          </a:blip>
          <a:stretch>
            <a:fillRect/>
          </a:stretch>
        </p:blipFill>
        <p:spPr>
          <a:xfrm>
            <a:off x="755576" y="4320207"/>
            <a:ext cx="4248472" cy="2375992"/>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604448"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How is the shopping distribution according to age?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6" name="Picture 5" descr="5.png"/>
          <p:cNvPicPr>
            <a:picLocks noChangeAspect="1"/>
          </p:cNvPicPr>
          <p:nvPr/>
        </p:nvPicPr>
        <p:blipFill>
          <a:blip r:embed="rId5" cstate="print"/>
          <a:stretch>
            <a:fillRect/>
          </a:stretch>
        </p:blipFill>
        <p:spPr>
          <a:xfrm>
            <a:off x="827584" y="2736031"/>
            <a:ext cx="3095498" cy="1512168"/>
          </a:xfrm>
          <a:prstGeom prst="rect">
            <a:avLst/>
          </a:prstGeom>
        </p:spPr>
      </p:pic>
      <p:pic>
        <p:nvPicPr>
          <p:cNvPr id="7" name="Picture 6" descr="5p.png"/>
          <p:cNvPicPr>
            <a:picLocks noChangeAspect="1"/>
          </p:cNvPicPr>
          <p:nvPr/>
        </p:nvPicPr>
        <p:blipFill>
          <a:blip r:embed="rId6" cstate="print"/>
          <a:stretch>
            <a:fillRect/>
          </a:stretch>
        </p:blipFill>
        <p:spPr>
          <a:xfrm>
            <a:off x="5508104" y="2736031"/>
            <a:ext cx="2958000" cy="3600400"/>
          </a:xfrm>
          <a:prstGeom prst="rect">
            <a:avLst/>
          </a:prstGeom>
        </p:spPr>
      </p:pic>
      <p:sp>
        <p:nvSpPr>
          <p:cNvPr id="10" name="Rectangle 9"/>
          <p:cNvSpPr/>
          <p:nvPr/>
        </p:nvSpPr>
        <p:spPr>
          <a:xfrm>
            <a:off x="971600" y="4827165"/>
            <a:ext cx="3312368"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Specific age groups show the highest shopping participation, shaping key customer demographics.</a:t>
            </a:r>
            <a:endParaRPr lang="en-US" sz="1600" b="1" dirty="0">
              <a:solidFill>
                <a:srgbClr val="00B050"/>
              </a:solidFill>
              <a:latin typeface="Arial" pitchFamily="34" charset="0"/>
              <a:cs typeface="Arial" pitchFamily="34" charset="0"/>
            </a:endParaRPr>
          </a:p>
        </p:txBody>
      </p:sp>
      <p:pic>
        <p:nvPicPr>
          <p:cNvPr id="11" name="Picture 10" descr="pngegg (47).png"/>
          <p:cNvPicPr>
            <a:picLocks noChangeAspect="1"/>
          </p:cNvPicPr>
          <p:nvPr/>
        </p:nvPicPr>
        <p:blipFill>
          <a:blip r:embed="rId7" cstate="print"/>
          <a:stretch>
            <a:fillRect/>
          </a:stretch>
        </p:blipFill>
        <p:spPr>
          <a:xfrm rot="4096798">
            <a:off x="4070444" y="3026563"/>
            <a:ext cx="1160726" cy="1160726"/>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3" name="Picture 12" descr="pngegg (49).png"/>
          <p:cNvPicPr>
            <a:picLocks noChangeAspect="1"/>
          </p:cNvPicPr>
          <p:nvPr/>
        </p:nvPicPr>
        <p:blipFill>
          <a:blip r:embed="rId3" cstate="print">
            <a:lum bright="40000"/>
          </a:blip>
          <a:stretch>
            <a:fillRect/>
          </a:stretch>
        </p:blipFill>
        <p:spPr>
          <a:xfrm>
            <a:off x="827584" y="4659715"/>
            <a:ext cx="4032448" cy="1892740"/>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568952"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Which age cat did we sell more products to</a:t>
            </a:r>
            <a:r>
              <a:rPr lang="en-IN" dirty="0"/>
              <a:t>? </a:t>
            </a:r>
          </a:p>
          <a:p>
            <a:pPr lvl="0" algn="l"/>
            <a:endParaRPr lang="en-IN" dirty="0">
              <a:solidFill>
                <a:schemeClr val="tx1">
                  <a:lumMod val="75000"/>
                  <a:lumOff val="25000"/>
                </a:schemeClr>
              </a:solidFill>
              <a:latin typeface="Times New Roman" pitchFamily="18" charset="0"/>
              <a:cs typeface="Times New Roman" pitchFamily="18" charset="0"/>
            </a:endParaRPr>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7" name="Picture 6" descr="6.png"/>
          <p:cNvPicPr>
            <a:picLocks noChangeAspect="1"/>
          </p:cNvPicPr>
          <p:nvPr/>
        </p:nvPicPr>
        <p:blipFill>
          <a:blip r:embed="rId5" cstate="print"/>
          <a:stretch>
            <a:fillRect/>
          </a:stretch>
        </p:blipFill>
        <p:spPr>
          <a:xfrm>
            <a:off x="647564" y="2736031"/>
            <a:ext cx="3060340" cy="1872208"/>
          </a:xfrm>
          <a:prstGeom prst="rect">
            <a:avLst/>
          </a:prstGeom>
        </p:spPr>
      </p:pic>
      <p:pic>
        <p:nvPicPr>
          <p:cNvPr id="8" name="Picture 7" descr="6p.png"/>
          <p:cNvPicPr>
            <a:picLocks noChangeAspect="1"/>
          </p:cNvPicPr>
          <p:nvPr/>
        </p:nvPicPr>
        <p:blipFill>
          <a:blip r:embed="rId6" cstate="print"/>
          <a:stretch>
            <a:fillRect/>
          </a:stretch>
        </p:blipFill>
        <p:spPr>
          <a:xfrm>
            <a:off x="5148064" y="2808039"/>
            <a:ext cx="3485079" cy="3384376"/>
          </a:xfrm>
          <a:prstGeom prst="rect">
            <a:avLst/>
          </a:prstGeom>
        </p:spPr>
      </p:pic>
      <p:sp>
        <p:nvSpPr>
          <p:cNvPr id="11" name="Rectangle 10"/>
          <p:cNvSpPr/>
          <p:nvPr/>
        </p:nvSpPr>
        <p:spPr>
          <a:xfrm>
            <a:off x="1115616" y="4899173"/>
            <a:ext cx="2952328"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One age </a:t>
            </a:r>
            <a:r>
              <a:rPr lang="en-US" sz="1600" b="1" dirty="0" smtClean="0">
                <a:solidFill>
                  <a:srgbClr val="00B050"/>
                </a:solidFill>
                <a:latin typeface="Arial" pitchFamily="34" charset="0"/>
                <a:cs typeface="Arial" pitchFamily="34" charset="0"/>
              </a:rPr>
              <a:t>group category </a:t>
            </a:r>
            <a:r>
              <a:rPr lang="en-US" sz="1600" b="1" dirty="0" smtClean="0">
                <a:solidFill>
                  <a:srgbClr val="00B050"/>
                </a:solidFill>
                <a:latin typeface="Arial" pitchFamily="34" charset="0"/>
                <a:cs typeface="Arial" pitchFamily="34" charset="0"/>
              </a:rPr>
              <a:t>purchases the most items, highlighting strong buying intensity.</a:t>
            </a:r>
            <a:endParaRPr lang="en-US" sz="1600" b="1" dirty="0">
              <a:solidFill>
                <a:srgbClr val="00B050"/>
              </a:solidFill>
              <a:latin typeface="Arial" pitchFamily="34" charset="0"/>
              <a:cs typeface="Arial" pitchFamily="34" charset="0"/>
            </a:endParaRPr>
          </a:p>
        </p:txBody>
      </p:sp>
      <p:pic>
        <p:nvPicPr>
          <p:cNvPr id="12" name="Picture 11" descr="pngegg (47).png"/>
          <p:cNvPicPr>
            <a:picLocks noChangeAspect="1"/>
          </p:cNvPicPr>
          <p:nvPr/>
        </p:nvPicPr>
        <p:blipFill>
          <a:blip r:embed="rId7" cstate="print"/>
          <a:stretch>
            <a:fillRect/>
          </a:stretch>
        </p:blipFill>
        <p:spPr>
          <a:xfrm rot="4096798">
            <a:off x="3809468" y="3026563"/>
            <a:ext cx="1160726" cy="116072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2" name="Picture 11" descr="pngegg (49).png"/>
          <p:cNvPicPr>
            <a:picLocks noChangeAspect="1"/>
          </p:cNvPicPr>
          <p:nvPr/>
        </p:nvPicPr>
        <p:blipFill>
          <a:blip r:embed="rId3" cstate="print">
            <a:lum bright="40000"/>
          </a:blip>
          <a:stretch>
            <a:fillRect/>
          </a:stretch>
        </p:blipFill>
        <p:spPr>
          <a:xfrm>
            <a:off x="971600" y="4515700"/>
            <a:ext cx="4104456" cy="1892739"/>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424936"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Which age cat generated more revenue?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6" name="Picture 5" descr="7.png"/>
          <p:cNvPicPr>
            <a:picLocks noChangeAspect="1"/>
          </p:cNvPicPr>
          <p:nvPr/>
        </p:nvPicPr>
        <p:blipFill>
          <a:blip r:embed="rId5" cstate="print"/>
          <a:stretch>
            <a:fillRect/>
          </a:stretch>
        </p:blipFill>
        <p:spPr>
          <a:xfrm>
            <a:off x="1043608" y="2664023"/>
            <a:ext cx="2880320" cy="1728192"/>
          </a:xfrm>
          <a:prstGeom prst="rect">
            <a:avLst/>
          </a:prstGeom>
        </p:spPr>
      </p:pic>
      <p:pic>
        <p:nvPicPr>
          <p:cNvPr id="7" name="Picture 6" descr="7p.png"/>
          <p:cNvPicPr>
            <a:picLocks noChangeAspect="1"/>
          </p:cNvPicPr>
          <p:nvPr/>
        </p:nvPicPr>
        <p:blipFill>
          <a:blip r:embed="rId6" cstate="print"/>
          <a:stretch>
            <a:fillRect/>
          </a:stretch>
        </p:blipFill>
        <p:spPr>
          <a:xfrm>
            <a:off x="5364088" y="2736031"/>
            <a:ext cx="3119496" cy="3528392"/>
          </a:xfrm>
          <a:prstGeom prst="rect">
            <a:avLst/>
          </a:prstGeom>
        </p:spPr>
      </p:pic>
      <p:sp>
        <p:nvSpPr>
          <p:cNvPr id="10" name="Rectangle 9"/>
          <p:cNvSpPr/>
          <p:nvPr/>
        </p:nvSpPr>
        <p:spPr>
          <a:xfrm>
            <a:off x="1475656" y="4824263"/>
            <a:ext cx="2736304"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Revenue is largely driven by a core age group, making them the key sales segment.</a:t>
            </a:r>
            <a:endParaRPr lang="en-US" sz="1600" b="1" dirty="0">
              <a:solidFill>
                <a:srgbClr val="00B050"/>
              </a:solidFill>
              <a:latin typeface="Arial" pitchFamily="34" charset="0"/>
              <a:cs typeface="Arial" pitchFamily="34" charset="0"/>
            </a:endParaRPr>
          </a:p>
        </p:txBody>
      </p:sp>
      <p:pic>
        <p:nvPicPr>
          <p:cNvPr id="11" name="Picture 10" descr="pngegg (47).png"/>
          <p:cNvPicPr>
            <a:picLocks noChangeAspect="1"/>
          </p:cNvPicPr>
          <p:nvPr/>
        </p:nvPicPr>
        <p:blipFill>
          <a:blip r:embed="rId7" cstate="print"/>
          <a:stretch>
            <a:fillRect/>
          </a:stretch>
        </p:blipFill>
        <p:spPr>
          <a:xfrm rot="4096798">
            <a:off x="4070444" y="3026563"/>
            <a:ext cx="1160726" cy="116072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2" name="Picture 11" descr="pngegg (49).png"/>
          <p:cNvPicPr>
            <a:picLocks noChangeAspect="1"/>
          </p:cNvPicPr>
          <p:nvPr/>
        </p:nvPicPr>
        <p:blipFill>
          <a:blip r:embed="rId3" cstate="print">
            <a:lum bright="40000"/>
          </a:blip>
          <a:stretch>
            <a:fillRect/>
          </a:stretch>
        </p:blipFill>
        <p:spPr>
          <a:xfrm>
            <a:off x="4788024" y="2520007"/>
            <a:ext cx="4355976" cy="2375992"/>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496944" cy="1656045"/>
          </a:xfrm>
        </p:spPr>
        <p:txBody>
          <a:bodyPr/>
          <a:lstStyle/>
          <a:p>
            <a:pPr algn="l"/>
            <a:r>
              <a:rPr lang="en-IN" b="1" dirty="0" smtClean="0">
                <a:solidFill>
                  <a:srgbClr val="FF0000"/>
                </a:solidFill>
                <a:latin typeface="Arial" pitchFamily="34" charset="0"/>
                <a:cs typeface="Arial" pitchFamily="34" charset="0"/>
              </a:rPr>
              <a:t>Problem:</a:t>
            </a:r>
          </a:p>
          <a:p>
            <a:pPr lvl="0"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Distribution of purchase categories relative to other </a:t>
            </a:r>
            <a:r>
              <a:rPr lang="en-IN" sz="2400" dirty="0" smtClean="0">
                <a:solidFill>
                  <a:schemeClr val="tx1">
                    <a:lumMod val="75000"/>
                    <a:lumOff val="25000"/>
                  </a:schemeClr>
                </a:solidFill>
                <a:latin typeface="Times New Roman" pitchFamily="18" charset="0"/>
                <a:cs typeface="Times New Roman" pitchFamily="18" charset="0"/>
              </a:rPr>
              <a:t> 	columns</a:t>
            </a:r>
            <a:r>
              <a:rPr lang="en-IN" sz="2400" dirty="0">
                <a:solidFill>
                  <a:schemeClr val="tx1">
                    <a:lumMod val="75000"/>
                    <a:lumOff val="25000"/>
                  </a:schemeClr>
                </a:solidFill>
                <a:latin typeface="Times New Roman" pitchFamily="18" charset="0"/>
                <a:cs typeface="Times New Roman" pitchFamily="18" charset="0"/>
              </a:rPr>
              <a:t>? </a:t>
            </a:r>
            <a:endParaRPr lang="en-IN" sz="2400"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8.png"/>
          <p:cNvPicPr>
            <a:picLocks noChangeAspect="1"/>
          </p:cNvPicPr>
          <p:nvPr/>
        </p:nvPicPr>
        <p:blipFill>
          <a:blip r:embed="rId5" cstate="print"/>
          <a:stretch>
            <a:fillRect/>
          </a:stretch>
        </p:blipFill>
        <p:spPr>
          <a:xfrm>
            <a:off x="107504" y="3024063"/>
            <a:ext cx="3977985" cy="1512167"/>
          </a:xfrm>
          <a:prstGeom prst="rect">
            <a:avLst/>
          </a:prstGeom>
        </p:spPr>
      </p:pic>
      <p:pic>
        <p:nvPicPr>
          <p:cNvPr id="6" name="Picture 5" descr="8p.png"/>
          <p:cNvPicPr>
            <a:picLocks noChangeAspect="1"/>
          </p:cNvPicPr>
          <p:nvPr/>
        </p:nvPicPr>
        <p:blipFill>
          <a:blip r:embed="rId6" cstate="print"/>
          <a:stretch>
            <a:fillRect/>
          </a:stretch>
        </p:blipFill>
        <p:spPr>
          <a:xfrm>
            <a:off x="3347864" y="4752255"/>
            <a:ext cx="5669772" cy="1600339"/>
          </a:xfrm>
          <a:prstGeom prst="rect">
            <a:avLst/>
          </a:prstGeom>
        </p:spPr>
      </p:pic>
      <p:sp>
        <p:nvSpPr>
          <p:cNvPr id="10" name="Rectangle 9"/>
          <p:cNvSpPr/>
          <p:nvPr/>
        </p:nvSpPr>
        <p:spPr>
          <a:xfrm>
            <a:off x="5220072" y="2852752"/>
            <a:ext cx="2880320" cy="1323439"/>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Product category preferences vary across age and </a:t>
            </a:r>
            <a:r>
              <a:rPr lang="en-US" sz="1600" b="1" dirty="0" smtClean="0">
                <a:solidFill>
                  <a:srgbClr val="00B050"/>
                </a:solidFill>
                <a:latin typeface="Arial" pitchFamily="34" charset="0"/>
                <a:cs typeface="Arial" pitchFamily="34" charset="0"/>
              </a:rPr>
              <a:t>transactions, </a:t>
            </a:r>
            <a:r>
              <a:rPr lang="en-US" sz="1600" b="1" dirty="0" smtClean="0">
                <a:solidFill>
                  <a:srgbClr val="00B050"/>
                </a:solidFill>
                <a:latin typeface="Arial" pitchFamily="34" charset="0"/>
                <a:cs typeface="Arial" pitchFamily="34" charset="0"/>
              </a:rPr>
              <a:t>enabling targeted product positioning.</a:t>
            </a:r>
            <a:endParaRPr lang="en-US" sz="1600" b="1" dirty="0">
              <a:solidFill>
                <a:srgbClr val="00B050"/>
              </a:solidFill>
              <a:latin typeface="Arial" pitchFamily="34" charset="0"/>
              <a:cs typeface="Arial" pitchFamily="34" charset="0"/>
            </a:endParaRPr>
          </a:p>
        </p:txBody>
      </p:sp>
      <p:pic>
        <p:nvPicPr>
          <p:cNvPr id="11" name="Picture 10" descr="pngegg (47).png"/>
          <p:cNvPicPr>
            <a:picLocks noChangeAspect="1"/>
          </p:cNvPicPr>
          <p:nvPr/>
        </p:nvPicPr>
        <p:blipFill>
          <a:blip r:embed="rId7" cstate="print"/>
          <a:stretch>
            <a:fillRect/>
          </a:stretch>
        </p:blipFill>
        <p:spPr>
          <a:xfrm rot="5400000">
            <a:off x="4139952" y="3816151"/>
            <a:ext cx="864096" cy="86409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11" name="Picture 10" descr="pngegg (49).png"/>
          <p:cNvPicPr>
            <a:picLocks noChangeAspect="1"/>
          </p:cNvPicPr>
          <p:nvPr/>
        </p:nvPicPr>
        <p:blipFill>
          <a:blip r:embed="rId3" cstate="print">
            <a:lum bright="40000"/>
          </a:blip>
          <a:stretch>
            <a:fillRect/>
          </a:stretch>
        </p:blipFill>
        <p:spPr>
          <a:xfrm>
            <a:off x="899592" y="4651182"/>
            <a:ext cx="4392488" cy="1973281"/>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496944"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Does the payment method have a relation with other </a:t>
            </a:r>
            <a:r>
              <a:rPr lang="en-IN" sz="2400" dirty="0" smtClean="0">
                <a:solidFill>
                  <a:schemeClr val="tx1">
                    <a:lumMod val="75000"/>
                    <a:lumOff val="25000"/>
                  </a:schemeClr>
                </a:solidFill>
                <a:latin typeface="Times New Roman" pitchFamily="18" charset="0"/>
                <a:cs typeface="Times New Roman" pitchFamily="18" charset="0"/>
              </a:rPr>
              <a:t>	columns</a:t>
            </a:r>
            <a:r>
              <a:rPr lang="en-IN" sz="2400" dirty="0">
                <a:solidFill>
                  <a:schemeClr val="tx1">
                    <a:lumMod val="75000"/>
                    <a:lumOff val="25000"/>
                  </a:schemeClr>
                </a:solidFill>
                <a:latin typeface="Times New Roman" pitchFamily="18" charset="0"/>
                <a:cs typeface="Times New Roman" pitchFamily="18" charset="0"/>
              </a:rPr>
              <a:t>?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pic>
        <p:nvPicPr>
          <p:cNvPr id="5" name="Picture 4" descr="9.png"/>
          <p:cNvPicPr>
            <a:picLocks noChangeAspect="1"/>
          </p:cNvPicPr>
          <p:nvPr/>
        </p:nvPicPr>
        <p:blipFill>
          <a:blip r:embed="rId5" cstate="print"/>
          <a:stretch>
            <a:fillRect/>
          </a:stretch>
        </p:blipFill>
        <p:spPr>
          <a:xfrm>
            <a:off x="539552" y="3024063"/>
            <a:ext cx="3312368" cy="1512168"/>
          </a:xfrm>
          <a:prstGeom prst="rect">
            <a:avLst/>
          </a:prstGeom>
        </p:spPr>
      </p:pic>
      <p:pic>
        <p:nvPicPr>
          <p:cNvPr id="6" name="Picture 5" descr="9p.png"/>
          <p:cNvPicPr>
            <a:picLocks noChangeAspect="1"/>
          </p:cNvPicPr>
          <p:nvPr/>
        </p:nvPicPr>
        <p:blipFill>
          <a:blip r:embed="rId6" cstate="print"/>
          <a:stretch>
            <a:fillRect/>
          </a:stretch>
        </p:blipFill>
        <p:spPr>
          <a:xfrm>
            <a:off x="5364088" y="3024063"/>
            <a:ext cx="3519422" cy="3240360"/>
          </a:xfrm>
          <a:prstGeom prst="rect">
            <a:avLst/>
          </a:prstGeom>
        </p:spPr>
      </p:pic>
      <p:sp>
        <p:nvSpPr>
          <p:cNvPr id="9" name="Rectangle 8"/>
          <p:cNvSpPr/>
          <p:nvPr/>
        </p:nvSpPr>
        <p:spPr>
          <a:xfrm>
            <a:off x="1331640" y="4968279"/>
            <a:ext cx="2952328" cy="1077218"/>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Payment choices differ by age, gender, and category, reflecting diverse customer preferences.</a:t>
            </a:r>
            <a:endParaRPr lang="en-US" sz="1600" b="1" dirty="0">
              <a:solidFill>
                <a:srgbClr val="00B050"/>
              </a:solidFill>
              <a:latin typeface="Arial" pitchFamily="34" charset="0"/>
              <a:cs typeface="Arial" pitchFamily="34" charset="0"/>
            </a:endParaRPr>
          </a:p>
        </p:txBody>
      </p:sp>
      <p:pic>
        <p:nvPicPr>
          <p:cNvPr id="10" name="Picture 9" descr="pngegg (47).png"/>
          <p:cNvPicPr>
            <a:picLocks noChangeAspect="1"/>
          </p:cNvPicPr>
          <p:nvPr/>
        </p:nvPicPr>
        <p:blipFill>
          <a:blip r:embed="rId7" cstate="print"/>
          <a:stretch>
            <a:fillRect/>
          </a:stretch>
        </p:blipFill>
        <p:spPr>
          <a:xfrm rot="4096798">
            <a:off x="4025492" y="3269643"/>
            <a:ext cx="1160726" cy="116072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1439887"/>
            <a:ext cx="8424936" cy="1656045"/>
          </a:xfrm>
        </p:spPr>
        <p:txBody>
          <a:bodyPr/>
          <a:lstStyle/>
          <a:p>
            <a:pPr algn="l"/>
            <a:r>
              <a:rPr lang="en-IN" b="1" dirty="0" smtClean="0">
                <a:solidFill>
                  <a:srgbClr val="FF0000"/>
                </a:solidFill>
                <a:latin typeface="Arial" pitchFamily="34" charset="0"/>
                <a:cs typeface="Arial" pitchFamily="34" charset="0"/>
              </a:rPr>
              <a:t>Problem:</a:t>
            </a:r>
          </a:p>
          <a:p>
            <a:pPr algn="l"/>
            <a:r>
              <a:rPr lang="en-IN" dirty="0" smtClean="0">
                <a:solidFill>
                  <a:srgbClr val="FF0000"/>
                </a:solidFill>
                <a:latin typeface="Arial" pitchFamily="34" charset="0"/>
                <a:cs typeface="Arial" pitchFamily="34" charset="0"/>
              </a:rPr>
              <a:t>	</a:t>
            </a:r>
            <a:r>
              <a:rPr lang="en-IN" sz="2400" dirty="0">
                <a:solidFill>
                  <a:schemeClr val="tx1">
                    <a:lumMod val="75000"/>
                    <a:lumOff val="25000"/>
                  </a:schemeClr>
                </a:solidFill>
                <a:latin typeface="Times New Roman" pitchFamily="18" charset="0"/>
                <a:cs typeface="Times New Roman" pitchFamily="18" charset="0"/>
              </a:rPr>
              <a:t>How is the distribution of the payment method? </a:t>
            </a:r>
          </a:p>
          <a:p>
            <a:pPr lvl="0" algn="l"/>
            <a:endParaRPr lang="en-IN" dirty="0" smtClean="0">
              <a:solidFill>
                <a:schemeClr val="tx1">
                  <a:lumMod val="75000"/>
                  <a:lumOff val="25000"/>
                </a:schemeClr>
              </a:solidFill>
              <a:latin typeface="Times New Roman" pitchFamily="18" charset="0"/>
              <a:cs typeface="Times New Roman" pitchFamily="18" charset="0"/>
            </a:endParaRPr>
          </a:p>
          <a:p>
            <a:endParaRPr lang="en-US" dirty="0"/>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10.png"/>
          <p:cNvPicPr>
            <a:picLocks noChangeAspect="1"/>
          </p:cNvPicPr>
          <p:nvPr/>
        </p:nvPicPr>
        <p:blipFill>
          <a:blip r:embed="rId4" cstate="print"/>
          <a:stretch>
            <a:fillRect/>
          </a:stretch>
        </p:blipFill>
        <p:spPr>
          <a:xfrm>
            <a:off x="467544" y="2808039"/>
            <a:ext cx="3410754" cy="1224136"/>
          </a:xfrm>
          <a:prstGeom prst="rect">
            <a:avLst/>
          </a:prstGeom>
        </p:spPr>
      </p:pic>
      <p:pic>
        <p:nvPicPr>
          <p:cNvPr id="6" name="Picture 5" descr="10p.png"/>
          <p:cNvPicPr>
            <a:picLocks noChangeAspect="1"/>
          </p:cNvPicPr>
          <p:nvPr/>
        </p:nvPicPr>
        <p:blipFill>
          <a:blip r:embed="rId5" cstate="print"/>
          <a:stretch>
            <a:fillRect/>
          </a:stretch>
        </p:blipFill>
        <p:spPr>
          <a:xfrm>
            <a:off x="5364088" y="3384103"/>
            <a:ext cx="3456384" cy="2808312"/>
          </a:xfrm>
          <a:prstGeom prst="rect">
            <a:avLst/>
          </a:prstGeom>
        </p:spPr>
      </p:pic>
      <p:pic>
        <p:nvPicPr>
          <p:cNvPr id="12" name="Picture 11" descr="pngegg (49).png"/>
          <p:cNvPicPr>
            <a:picLocks noChangeAspect="1"/>
          </p:cNvPicPr>
          <p:nvPr/>
        </p:nvPicPr>
        <p:blipFill>
          <a:blip r:embed="rId6" cstate="print">
            <a:lum bright="40000"/>
          </a:blip>
          <a:stretch>
            <a:fillRect/>
          </a:stretch>
        </p:blipFill>
        <p:spPr>
          <a:xfrm>
            <a:off x="755576" y="4104183"/>
            <a:ext cx="4248472" cy="2375992"/>
          </a:xfrm>
          <a:prstGeom prst="rect">
            <a:avLst/>
          </a:prstGeom>
        </p:spPr>
      </p:pic>
      <p:sp>
        <p:nvSpPr>
          <p:cNvPr id="9" name="Rectangle 8"/>
          <p:cNvSpPr/>
          <p:nvPr/>
        </p:nvSpPr>
        <p:spPr>
          <a:xfrm>
            <a:off x="1259632" y="4464223"/>
            <a:ext cx="2592288" cy="1323439"/>
          </a:xfrm>
          <a:prstGeom prst="rect">
            <a:avLst/>
          </a:prstGeom>
        </p:spPr>
        <p:txBody>
          <a:bodyPr wrap="square">
            <a:spAutoFit/>
          </a:bodyPr>
          <a:lstStyle/>
          <a:p>
            <a:pPr algn="ctr"/>
            <a:r>
              <a:rPr lang="en-US" sz="1600" b="1" dirty="0" smtClean="0">
                <a:solidFill>
                  <a:srgbClr val="00B050"/>
                </a:solidFill>
                <a:latin typeface="Arial" pitchFamily="34" charset="0"/>
                <a:cs typeface="Arial" pitchFamily="34" charset="0"/>
              </a:rPr>
              <a:t>A </a:t>
            </a:r>
            <a:r>
              <a:rPr lang="en-US" sz="1600" b="1" dirty="0" smtClean="0">
                <a:solidFill>
                  <a:srgbClr val="00B050"/>
                </a:solidFill>
                <a:latin typeface="Arial" pitchFamily="34" charset="0"/>
                <a:cs typeface="Arial" pitchFamily="34" charset="0"/>
              </a:rPr>
              <a:t>cash </a:t>
            </a:r>
            <a:r>
              <a:rPr lang="en-US" sz="1600" b="1" dirty="0" smtClean="0">
                <a:solidFill>
                  <a:srgbClr val="00B050"/>
                </a:solidFill>
                <a:latin typeface="Arial" pitchFamily="34" charset="0"/>
                <a:cs typeface="Arial" pitchFamily="34" charset="0"/>
              </a:rPr>
              <a:t>payment </a:t>
            </a:r>
            <a:r>
              <a:rPr lang="en-US" sz="1600" b="1" dirty="0" smtClean="0">
                <a:solidFill>
                  <a:srgbClr val="00B050"/>
                </a:solidFill>
                <a:latin typeface="Arial" pitchFamily="34" charset="0"/>
                <a:cs typeface="Arial" pitchFamily="34" charset="0"/>
              </a:rPr>
              <a:t>method </a:t>
            </a:r>
            <a:r>
              <a:rPr lang="en-US" sz="1600" b="1" dirty="0" smtClean="0">
                <a:solidFill>
                  <a:srgbClr val="00B050"/>
                </a:solidFill>
                <a:latin typeface="Arial" pitchFamily="34" charset="0"/>
                <a:cs typeface="Arial" pitchFamily="34" charset="0"/>
              </a:rPr>
              <a:t>dominate transactions, confirming strong customer preference trends.</a:t>
            </a:r>
            <a:endParaRPr lang="en-US" sz="1600" b="1" dirty="0">
              <a:solidFill>
                <a:srgbClr val="00B050"/>
              </a:solidFill>
              <a:latin typeface="Arial" pitchFamily="34" charset="0"/>
              <a:cs typeface="Arial" pitchFamily="34" charset="0"/>
            </a:endParaRPr>
          </a:p>
        </p:txBody>
      </p:sp>
      <p:pic>
        <p:nvPicPr>
          <p:cNvPr id="10" name="Picture 9" descr="pngegg (47).png"/>
          <p:cNvPicPr>
            <a:picLocks noChangeAspect="1"/>
          </p:cNvPicPr>
          <p:nvPr/>
        </p:nvPicPr>
        <p:blipFill>
          <a:blip r:embed="rId7" cstate="print"/>
          <a:stretch>
            <a:fillRect/>
          </a:stretch>
        </p:blipFill>
        <p:spPr>
          <a:xfrm rot="4096798">
            <a:off x="4058144" y="3295824"/>
            <a:ext cx="1012668" cy="101266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8" name="Picture 7" descr="pngegg (31).png"/>
          <p:cNvPicPr>
            <a:picLocks noChangeAspect="1"/>
          </p:cNvPicPr>
          <p:nvPr/>
        </p:nvPicPr>
        <p:blipFill>
          <a:blip r:embed="rId3" cstate="print">
            <a:lum bright="30000"/>
          </a:blip>
          <a:stretch>
            <a:fillRect/>
          </a:stretch>
        </p:blipFill>
        <p:spPr>
          <a:xfrm>
            <a:off x="3059832" y="575791"/>
            <a:ext cx="6096000" cy="6096000"/>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251520" y="1439887"/>
            <a:ext cx="8748464" cy="1728191"/>
          </a:xfrm>
        </p:spPr>
        <p:txBody>
          <a:bodyPr>
            <a:normAutofit/>
          </a:bodyPr>
          <a:lstStyle/>
          <a:p>
            <a:r>
              <a:rPr lang="en-US" b="1" dirty="0" smtClean="0">
                <a:solidFill>
                  <a:srgbClr val="FF0000"/>
                </a:solidFill>
                <a:latin typeface="Arial" pitchFamily="34" charset="0"/>
                <a:cs typeface="Arial" pitchFamily="34" charset="0"/>
              </a:rPr>
              <a:t>Key Insights </a:t>
            </a:r>
            <a:r>
              <a:rPr lang="en-US" b="1" dirty="0" smtClean="0">
                <a:solidFill>
                  <a:srgbClr val="FF0000"/>
                </a:solidFill>
                <a:latin typeface="Arial" pitchFamily="34" charset="0"/>
                <a:cs typeface="Arial" pitchFamily="34" charset="0"/>
              </a:rPr>
              <a:t>Summary</a:t>
            </a:r>
          </a:p>
          <a:p>
            <a:r>
              <a:rPr lang="en-US" sz="2000" dirty="0" smtClean="0">
                <a:solidFill>
                  <a:schemeClr val="tx1"/>
                </a:solidFill>
                <a:latin typeface="Times New Roman" pitchFamily="18" charset="0"/>
                <a:cs typeface="Times New Roman" pitchFamily="18" charset="0"/>
              </a:rPr>
              <a:t>The </a:t>
            </a:r>
            <a:r>
              <a:rPr lang="en-US" sz="2000" dirty="0" smtClean="0">
                <a:solidFill>
                  <a:schemeClr val="tx1"/>
                </a:solidFill>
                <a:latin typeface="Times New Roman" pitchFamily="18" charset="0"/>
                <a:cs typeface="Times New Roman" pitchFamily="18" charset="0"/>
              </a:rPr>
              <a:t>analysis highlights clear behavioral patterns across customer </a:t>
            </a:r>
            <a:r>
              <a:rPr lang="en-US" sz="2000" dirty="0" smtClean="0">
                <a:solidFill>
                  <a:schemeClr val="tx1"/>
                </a:solidFill>
                <a:latin typeface="Times New Roman" pitchFamily="18" charset="0"/>
                <a:cs typeface="Times New Roman" pitchFamily="18" charset="0"/>
              </a:rPr>
              <a:t>segments</a:t>
            </a:r>
            <a:r>
              <a:rPr lang="en-US" sz="2000" dirty="0" smtClean="0">
                <a:solidFill>
                  <a:schemeClr val="tx1"/>
                </a:solidFill>
                <a:latin typeface="Times New Roman" pitchFamily="18" charset="0"/>
                <a:cs typeface="Times New Roman" pitchFamily="18" charset="0"/>
              </a:rPr>
              <a:t>, </a:t>
            </a:r>
            <a:r>
              <a:rPr lang="en-US" sz="2000" dirty="0" smtClean="0">
                <a:solidFill>
                  <a:schemeClr val="tx1"/>
                </a:solidFill>
                <a:latin typeface="Times New Roman" pitchFamily="18" charset="0"/>
                <a:cs typeface="Times New Roman" pitchFamily="18" charset="0"/>
              </a:rPr>
              <a:t>         product </a:t>
            </a:r>
            <a:r>
              <a:rPr lang="en-US" sz="2000" dirty="0" smtClean="0">
                <a:solidFill>
                  <a:schemeClr val="tx1"/>
                </a:solidFill>
                <a:latin typeface="Times New Roman" pitchFamily="18" charset="0"/>
                <a:cs typeface="Times New Roman" pitchFamily="18" charset="0"/>
              </a:rPr>
              <a:t>categories, and payment preferences:</a:t>
            </a:r>
            <a:endParaRPr lang="en-US" sz="2000" b="1" dirty="0">
              <a:solidFill>
                <a:schemeClr val="tx1"/>
              </a:solidFill>
              <a:latin typeface="Times New Roman" pitchFamily="18" charset="0"/>
              <a:cs typeface="Times New Roman" pitchFamily="18" charset="0"/>
            </a:endParaRPr>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sp>
        <p:nvSpPr>
          <p:cNvPr id="6" name="Rectangle 5"/>
          <p:cNvSpPr/>
          <p:nvPr/>
        </p:nvSpPr>
        <p:spPr>
          <a:xfrm>
            <a:off x="755576" y="2936954"/>
            <a:ext cx="7992888" cy="2585323"/>
          </a:xfrm>
          <a:prstGeom prst="rect">
            <a:avLst/>
          </a:prstGeom>
        </p:spPr>
        <p:txBody>
          <a:bodyPr wrap="square">
            <a:spAutoFit/>
          </a:bodyPr>
          <a:lstStyle/>
          <a:p>
            <a:pPr lvl="0" fontAlgn="base">
              <a:spcBef>
                <a:spcPct val="0"/>
              </a:spcBef>
              <a:spcAft>
                <a:spcPct val="0"/>
              </a:spcAft>
            </a:pPr>
            <a:r>
              <a:rPr lang="en-US" dirty="0" smtClean="0">
                <a:solidFill>
                  <a:srgbClr val="00B0F0"/>
                </a:solidFill>
              </a:rPr>
              <a:t>💠 </a:t>
            </a:r>
            <a:r>
              <a:rPr lang="en-US" dirty="0" smtClean="0">
                <a:solidFill>
                  <a:srgbClr val="00B0F0"/>
                </a:solidFill>
              </a:rPr>
              <a:t>  </a:t>
            </a:r>
            <a:r>
              <a:rPr lang="en-US" dirty="0" smtClean="0"/>
              <a:t> </a:t>
            </a:r>
            <a:r>
              <a:rPr lang="en-US" b="1" dirty="0" smtClean="0">
                <a:solidFill>
                  <a:prstClr val="black"/>
                </a:solidFill>
                <a:latin typeface="Times New Roman" pitchFamily="18" charset="0"/>
                <a:cs typeface="Times New Roman" pitchFamily="18" charset="0"/>
              </a:rPr>
              <a:t>Female </a:t>
            </a:r>
            <a:r>
              <a:rPr lang="en-US" b="1" dirty="0" smtClean="0">
                <a:solidFill>
                  <a:prstClr val="black"/>
                </a:solidFill>
                <a:latin typeface="Times New Roman" pitchFamily="18" charset="0"/>
                <a:cs typeface="Times New Roman" pitchFamily="18" charset="0"/>
              </a:rPr>
              <a:t>gender contributes more revenue</a:t>
            </a:r>
            <a:r>
              <a:rPr lang="en-US" dirty="0" smtClean="0">
                <a:solidFill>
                  <a:prstClr val="black"/>
                </a:solidFill>
                <a:latin typeface="Times New Roman" pitchFamily="18" charset="0"/>
                <a:cs typeface="Times New Roman" pitchFamily="18" charset="0"/>
              </a:rPr>
              <a:t>, making it the primary high-value customer segment</a:t>
            </a:r>
            <a:r>
              <a:rPr lang="en-US" dirty="0" smtClean="0">
                <a:solidFill>
                  <a:prstClr val="black"/>
                </a:solidFill>
                <a:latin typeface="Times New Roman" pitchFamily="18" charset="0"/>
                <a:cs typeface="Times New Roman" pitchFamily="18" charset="0"/>
              </a:rPr>
              <a:t>.</a:t>
            </a:r>
          </a:p>
          <a:p>
            <a:pPr lvl="0" fontAlgn="base">
              <a:spcBef>
                <a:spcPct val="0"/>
              </a:spcBef>
              <a:spcAft>
                <a:spcPct val="0"/>
              </a:spcAft>
            </a:pPr>
            <a:endParaRPr lang="en-US" dirty="0" smtClean="0">
              <a:solidFill>
                <a:prstClr val="black"/>
              </a:solidFill>
              <a:latin typeface="Times New Roman" pitchFamily="18" charset="0"/>
              <a:cs typeface="Times New Roman" pitchFamily="18" charset="0"/>
            </a:endParaRPr>
          </a:p>
          <a:p>
            <a:pPr lvl="0" eaLnBrk="0" fontAlgn="base" hangingPunct="0">
              <a:spcBef>
                <a:spcPct val="0"/>
              </a:spcBef>
              <a:spcAft>
                <a:spcPct val="0"/>
              </a:spcAft>
            </a:pPr>
            <a:r>
              <a:rPr lang="en-US" dirty="0" smtClean="0">
                <a:solidFill>
                  <a:srgbClr val="00B0F0"/>
                </a:solidFill>
              </a:rPr>
              <a:t>💠 </a:t>
            </a:r>
            <a:r>
              <a:rPr lang="en-US" dirty="0" smtClean="0">
                <a:solidFill>
                  <a:srgbClr val="00B0F0"/>
                </a:solidFill>
              </a:rPr>
              <a:t>  </a:t>
            </a:r>
            <a:r>
              <a:rPr lang="en-US" dirty="0" smtClean="0"/>
              <a:t> </a:t>
            </a:r>
            <a:r>
              <a:rPr lang="en-US" b="1" dirty="0" smtClean="0">
                <a:solidFill>
                  <a:prstClr val="black"/>
                </a:solidFill>
                <a:latin typeface="Times New Roman" pitchFamily="18" charset="0"/>
                <a:cs typeface="Times New Roman" pitchFamily="18" charset="0"/>
              </a:rPr>
              <a:t>Age </a:t>
            </a:r>
            <a:r>
              <a:rPr lang="en-US" b="1" dirty="0" smtClean="0">
                <a:solidFill>
                  <a:prstClr val="black"/>
                </a:solidFill>
                <a:latin typeface="Times New Roman" pitchFamily="18" charset="0"/>
                <a:cs typeface="Times New Roman" pitchFamily="18" charset="0"/>
              </a:rPr>
              <a:t>25–34 and 35–44</a:t>
            </a:r>
            <a:r>
              <a:rPr lang="en-US" dirty="0" smtClean="0">
                <a:solidFill>
                  <a:prstClr val="black"/>
                </a:solidFill>
                <a:latin typeface="Times New Roman" pitchFamily="18" charset="0"/>
                <a:cs typeface="Times New Roman" pitchFamily="18" charset="0"/>
              </a:rPr>
              <a:t> show the highest buying activity and spending levels</a:t>
            </a:r>
            <a:r>
              <a:rPr lang="en-US" dirty="0" smtClean="0">
                <a:solidFill>
                  <a:prstClr val="black"/>
                </a:solidFill>
                <a:latin typeface="Times New Roman" pitchFamily="18" charset="0"/>
                <a:cs typeface="Times New Roman" pitchFamily="18" charset="0"/>
              </a:rPr>
              <a:t>.</a:t>
            </a:r>
          </a:p>
          <a:p>
            <a:pPr lvl="0" eaLnBrk="0" fontAlgn="base" hangingPunct="0">
              <a:spcBef>
                <a:spcPct val="0"/>
              </a:spcBef>
              <a:spcAft>
                <a:spcPct val="0"/>
              </a:spcAft>
            </a:pPr>
            <a:endParaRPr lang="en-US" dirty="0" smtClean="0">
              <a:solidFill>
                <a:prstClr val="black"/>
              </a:solidFill>
              <a:latin typeface="Times New Roman" pitchFamily="18" charset="0"/>
              <a:cs typeface="Times New Roman" pitchFamily="18" charset="0"/>
            </a:endParaRPr>
          </a:p>
          <a:p>
            <a:pPr lvl="0" eaLnBrk="0" fontAlgn="base" hangingPunct="0">
              <a:spcBef>
                <a:spcPct val="0"/>
              </a:spcBef>
              <a:spcAft>
                <a:spcPct val="0"/>
              </a:spcAft>
            </a:pPr>
            <a:r>
              <a:rPr lang="en-US" dirty="0" smtClean="0">
                <a:solidFill>
                  <a:srgbClr val="00B0F0"/>
                </a:solidFill>
              </a:rPr>
              <a:t>💠 </a:t>
            </a:r>
            <a:r>
              <a:rPr lang="en-US" dirty="0" smtClean="0">
                <a:solidFill>
                  <a:srgbClr val="00B0F0"/>
                </a:solidFill>
              </a:rPr>
              <a:t>   </a:t>
            </a:r>
            <a:r>
              <a:rPr lang="en-US" b="1" dirty="0" smtClean="0">
                <a:solidFill>
                  <a:prstClr val="black"/>
                </a:solidFill>
                <a:latin typeface="Times New Roman" pitchFamily="18" charset="0"/>
                <a:cs typeface="Times New Roman" pitchFamily="18" charset="0"/>
              </a:rPr>
              <a:t>Top-performing </a:t>
            </a:r>
            <a:r>
              <a:rPr lang="en-US" b="1" dirty="0" smtClean="0">
                <a:solidFill>
                  <a:prstClr val="black"/>
                </a:solidFill>
                <a:latin typeface="Times New Roman" pitchFamily="18" charset="0"/>
                <a:cs typeface="Times New Roman" pitchFamily="18" charset="0"/>
              </a:rPr>
              <a:t>categories</a:t>
            </a:r>
            <a:r>
              <a:rPr lang="en-US" dirty="0" smtClean="0">
                <a:solidFill>
                  <a:prstClr val="black"/>
                </a:solidFill>
                <a:latin typeface="Times New Roman" pitchFamily="18" charset="0"/>
                <a:cs typeface="Times New Roman" pitchFamily="18" charset="0"/>
              </a:rPr>
              <a:t> generate a major share of total sales, driving overall </a:t>
            </a:r>
            <a:r>
              <a:rPr lang="en-US" dirty="0" smtClean="0">
                <a:solidFill>
                  <a:prstClr val="black"/>
                </a:solidFill>
                <a:latin typeface="Times New Roman" pitchFamily="18" charset="0"/>
                <a:cs typeface="Times New Roman" pitchFamily="18" charset="0"/>
              </a:rPr>
              <a:t>          business </a:t>
            </a:r>
            <a:r>
              <a:rPr lang="en-US" dirty="0" smtClean="0">
                <a:solidFill>
                  <a:prstClr val="black"/>
                </a:solidFill>
                <a:latin typeface="Times New Roman" pitchFamily="18" charset="0"/>
                <a:cs typeface="Times New Roman" pitchFamily="18" charset="0"/>
              </a:rPr>
              <a:t>growth</a:t>
            </a:r>
            <a:r>
              <a:rPr lang="en-US" dirty="0" smtClean="0">
                <a:solidFill>
                  <a:prstClr val="black"/>
                </a:solidFill>
                <a:latin typeface="Times New Roman" pitchFamily="18" charset="0"/>
                <a:cs typeface="Times New Roman" pitchFamily="18" charset="0"/>
              </a:rPr>
              <a:t>.</a:t>
            </a:r>
          </a:p>
          <a:p>
            <a:pPr lvl="0" eaLnBrk="0" fontAlgn="base" hangingPunct="0">
              <a:spcBef>
                <a:spcPct val="0"/>
              </a:spcBef>
              <a:spcAft>
                <a:spcPct val="0"/>
              </a:spcAft>
            </a:pPr>
            <a:endParaRPr lang="en-US" dirty="0" smtClean="0">
              <a:solidFill>
                <a:prstClr val="black"/>
              </a:solidFill>
              <a:latin typeface="Times New Roman" pitchFamily="18" charset="0"/>
              <a:cs typeface="Times New Roman" pitchFamily="18" charset="0"/>
            </a:endParaRPr>
          </a:p>
          <a:p>
            <a:pPr lvl="0" eaLnBrk="0" fontAlgn="base" hangingPunct="0">
              <a:spcBef>
                <a:spcPct val="0"/>
              </a:spcBef>
              <a:spcAft>
                <a:spcPct val="0"/>
              </a:spcAft>
            </a:pPr>
            <a:r>
              <a:rPr lang="en-US" dirty="0" smtClean="0">
                <a:solidFill>
                  <a:srgbClr val="00B0F0"/>
                </a:solidFill>
              </a:rPr>
              <a:t>💠 </a:t>
            </a:r>
            <a:r>
              <a:rPr lang="en-US" dirty="0" smtClean="0">
                <a:solidFill>
                  <a:srgbClr val="00B0F0"/>
                </a:solidFill>
              </a:rPr>
              <a:t>   </a:t>
            </a:r>
            <a:r>
              <a:rPr lang="en-US" dirty="0" smtClean="0"/>
              <a:t> </a:t>
            </a:r>
            <a:r>
              <a:rPr lang="en-US" b="1" dirty="0" smtClean="0">
                <a:solidFill>
                  <a:prstClr val="black"/>
                </a:solidFill>
                <a:latin typeface="Times New Roman" pitchFamily="18" charset="0"/>
                <a:cs typeface="Times New Roman" pitchFamily="18" charset="0"/>
              </a:rPr>
              <a:t>Cash &amp; Cards </a:t>
            </a:r>
            <a:r>
              <a:rPr lang="en-US" dirty="0" smtClean="0">
                <a:solidFill>
                  <a:prstClr val="black"/>
                </a:solidFill>
                <a:latin typeface="Times New Roman" pitchFamily="18" charset="0"/>
                <a:cs typeface="Times New Roman" pitchFamily="18" charset="0"/>
              </a:rPr>
              <a:t>are </a:t>
            </a:r>
            <a:r>
              <a:rPr lang="en-US" dirty="0" smtClean="0">
                <a:solidFill>
                  <a:prstClr val="black"/>
                </a:solidFill>
                <a:latin typeface="Times New Roman" pitchFamily="18" charset="0"/>
                <a:cs typeface="Times New Roman" pitchFamily="18" charset="0"/>
              </a:rPr>
              <a:t>the most preferred modes across customers</a:t>
            </a:r>
            <a:r>
              <a:rPr lang="en-US" dirty="0" smtClean="0">
                <a:solidFill>
                  <a:prstClr val="black"/>
                </a:solidFill>
                <a:latin typeface="Times New Roman" pitchFamily="18" charset="0"/>
                <a:cs typeface="Times New Roman" pitchFamily="18" charset="0"/>
              </a:rPr>
              <a:t>.</a:t>
            </a:r>
            <a:endParaRPr lang="en-US" dirty="0" smtClean="0">
              <a:solidFill>
                <a:prstClr val="black"/>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pic>
        <p:nvPicPr>
          <p:cNvPr id="6" name="Picture 5" descr="pngegg (51).png"/>
          <p:cNvPicPr>
            <a:picLocks noChangeAspect="1"/>
          </p:cNvPicPr>
          <p:nvPr/>
        </p:nvPicPr>
        <p:blipFill>
          <a:blip r:embed="rId3" cstate="print">
            <a:lum bright="40000"/>
          </a:blip>
          <a:stretch>
            <a:fillRect/>
          </a:stretch>
        </p:blipFill>
        <p:spPr>
          <a:xfrm>
            <a:off x="1115889" y="575791"/>
            <a:ext cx="7272535" cy="6480447"/>
          </a:xfrm>
          <a:prstGeom prst="rect">
            <a:avLst/>
          </a:prstGeom>
        </p:spPr>
      </p:pic>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251520" y="1439887"/>
            <a:ext cx="8712968" cy="1656045"/>
          </a:xfrm>
        </p:spPr>
        <p:txBody>
          <a:bodyPr>
            <a:normAutofit/>
          </a:bodyPr>
          <a:lstStyle/>
          <a:p>
            <a:r>
              <a:rPr lang="en-US" b="1" dirty="0" smtClean="0">
                <a:solidFill>
                  <a:srgbClr val="FF0000"/>
                </a:solidFill>
                <a:latin typeface="Arial" pitchFamily="34" charset="0"/>
                <a:cs typeface="Arial" pitchFamily="34" charset="0"/>
              </a:rPr>
              <a:t>Business </a:t>
            </a:r>
            <a:r>
              <a:rPr lang="en-US" b="1" dirty="0" smtClean="0">
                <a:solidFill>
                  <a:srgbClr val="FF0000"/>
                </a:solidFill>
                <a:latin typeface="Arial" pitchFamily="34" charset="0"/>
                <a:cs typeface="Arial" pitchFamily="34" charset="0"/>
              </a:rPr>
              <a:t>Recommendations</a:t>
            </a:r>
          </a:p>
          <a:p>
            <a:r>
              <a:rPr lang="en-US" sz="2000" dirty="0" smtClean="0">
                <a:solidFill>
                  <a:schemeClr val="tx1"/>
                </a:solidFill>
                <a:latin typeface="Times New Roman" pitchFamily="18" charset="0"/>
                <a:cs typeface="Times New Roman" pitchFamily="18" charset="0"/>
              </a:rPr>
              <a:t>Based on data-driven insights from customer trends and revenue patterns, the following strategic actions are recommended:</a:t>
            </a:r>
            <a:endParaRPr lang="en-US" sz="2000" b="1" dirty="0">
              <a:solidFill>
                <a:schemeClr val="tx1"/>
              </a:solidFill>
              <a:latin typeface="Times New Roman" pitchFamily="18" charset="0"/>
              <a:cs typeface="Times New Roman" pitchFamily="18" charset="0"/>
            </a:endParaRPr>
          </a:p>
        </p:txBody>
      </p:sp>
      <p:pic>
        <p:nvPicPr>
          <p:cNvPr id="4" name="Picture 3" descr="pngegg (35).png"/>
          <p:cNvPicPr>
            <a:picLocks noChangeAspect="1"/>
          </p:cNvPicPr>
          <p:nvPr/>
        </p:nvPicPr>
        <p:blipFill>
          <a:blip r:embed="rId4" cstate="print"/>
          <a:stretch>
            <a:fillRect/>
          </a:stretch>
        </p:blipFill>
        <p:spPr>
          <a:xfrm>
            <a:off x="362741" y="419423"/>
            <a:ext cx="1040908" cy="983562"/>
          </a:xfrm>
          <a:prstGeom prst="rect">
            <a:avLst/>
          </a:prstGeom>
        </p:spPr>
      </p:pic>
      <p:sp>
        <p:nvSpPr>
          <p:cNvPr id="5" name="Rectangle 4"/>
          <p:cNvSpPr/>
          <p:nvPr/>
        </p:nvSpPr>
        <p:spPr>
          <a:xfrm>
            <a:off x="755576" y="2736031"/>
            <a:ext cx="8568952" cy="3570208"/>
          </a:xfrm>
          <a:prstGeom prst="rect">
            <a:avLst/>
          </a:prstGeom>
        </p:spPr>
        <p:txBody>
          <a:bodyPr wrap="square">
            <a:spAutoFit/>
          </a:bodyPr>
          <a:lstStyle/>
          <a:p>
            <a:r>
              <a:rPr lang="en-US" sz="1600" b="1" dirty="0" smtClean="0">
                <a:latin typeface="Times New Roman" pitchFamily="18" charset="0"/>
                <a:cs typeface="Times New Roman" pitchFamily="18" charset="0"/>
              </a:rPr>
              <a:t>1. </a:t>
            </a:r>
            <a:r>
              <a:rPr lang="en-US" sz="1600" b="1" dirty="0" smtClean="0">
                <a:solidFill>
                  <a:srgbClr val="C00000"/>
                </a:solidFill>
                <a:latin typeface="Times New Roman" pitchFamily="18" charset="0"/>
                <a:cs typeface="Times New Roman" pitchFamily="18" charset="0"/>
              </a:rPr>
              <a:t>Target High-Performing Age </a:t>
            </a:r>
            <a:r>
              <a:rPr lang="en-US" sz="1600" b="1" dirty="0" smtClean="0">
                <a:solidFill>
                  <a:srgbClr val="C00000"/>
                </a:solidFill>
                <a:latin typeface="Times New Roman" pitchFamily="18" charset="0"/>
                <a:cs typeface="Times New Roman" pitchFamily="18" charset="0"/>
              </a:rPr>
              <a:t>Groups:</a:t>
            </a:r>
            <a:endParaRPr lang="en-US" sz="1600" b="1" dirty="0" smtClean="0">
              <a:solidFill>
                <a:srgbClr val="C00000"/>
              </a:solidFill>
              <a:latin typeface="Times New Roman" pitchFamily="18" charset="0"/>
              <a:cs typeface="Times New Roman" pitchFamily="18" charset="0"/>
            </a:endParaRPr>
          </a:p>
          <a:p>
            <a:r>
              <a:rPr lang="en-US" sz="1600" dirty="0" smtClean="0">
                <a:latin typeface="Times New Roman" pitchFamily="18" charset="0"/>
                <a:cs typeface="Times New Roman" pitchFamily="18" charset="0"/>
              </a:rPr>
              <a:t>Focus marketing and loyalty programs on the strong </a:t>
            </a:r>
            <a:r>
              <a:rPr lang="en-US" sz="1600" b="1" dirty="0" smtClean="0">
                <a:latin typeface="Times New Roman" pitchFamily="18" charset="0"/>
                <a:cs typeface="Times New Roman" pitchFamily="18" charset="0"/>
              </a:rPr>
              <a:t>25–34 and 35–44</a:t>
            </a:r>
            <a:r>
              <a:rPr lang="en-US" sz="1600" dirty="0" smtClean="0">
                <a:latin typeface="Times New Roman" pitchFamily="18" charset="0"/>
                <a:cs typeface="Times New Roman" pitchFamily="18" charset="0"/>
              </a:rPr>
              <a:t> customer segments</a:t>
            </a:r>
            <a:r>
              <a:rPr lang="en-US" sz="1600" dirty="0" smtClean="0">
                <a:latin typeface="Times New Roman" pitchFamily="18" charset="0"/>
                <a:cs typeface="Times New Roman" pitchFamily="18" charset="0"/>
              </a:rPr>
              <a:t>.</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2. </a:t>
            </a:r>
            <a:r>
              <a:rPr lang="en-US" sz="1600" b="1" dirty="0" smtClean="0">
                <a:solidFill>
                  <a:srgbClr val="C00000"/>
                </a:solidFill>
                <a:latin typeface="Times New Roman" pitchFamily="18" charset="0"/>
                <a:cs typeface="Times New Roman" pitchFamily="18" charset="0"/>
              </a:rPr>
              <a:t>Optimize Inventory for Top </a:t>
            </a:r>
            <a:r>
              <a:rPr lang="en-US" sz="1600" b="1" dirty="0" smtClean="0">
                <a:solidFill>
                  <a:srgbClr val="C00000"/>
                </a:solidFill>
                <a:latin typeface="Times New Roman" pitchFamily="18" charset="0"/>
                <a:cs typeface="Times New Roman" pitchFamily="18" charset="0"/>
              </a:rPr>
              <a:t>Categories:</a:t>
            </a:r>
            <a:endParaRPr lang="en-US" sz="1600" b="1" dirty="0" smtClean="0">
              <a:solidFill>
                <a:srgbClr val="C00000"/>
              </a:solidFill>
              <a:latin typeface="Times New Roman" pitchFamily="18" charset="0"/>
              <a:cs typeface="Times New Roman" pitchFamily="18" charset="0"/>
            </a:endParaRPr>
          </a:p>
          <a:p>
            <a:r>
              <a:rPr lang="en-US" sz="1600" dirty="0" smtClean="0">
                <a:latin typeface="Times New Roman" pitchFamily="18" charset="0"/>
                <a:cs typeface="Times New Roman" pitchFamily="18" charset="0"/>
              </a:rPr>
              <a:t>Prioritize stock and promotions for </a:t>
            </a:r>
            <a:r>
              <a:rPr lang="en-US" sz="1600" b="1" dirty="0" smtClean="0">
                <a:latin typeface="Times New Roman" pitchFamily="18" charset="0"/>
                <a:cs typeface="Times New Roman" pitchFamily="18" charset="0"/>
              </a:rPr>
              <a:t>high-demand categories</a:t>
            </a:r>
            <a:r>
              <a:rPr lang="en-US" sz="1600" dirty="0" smtClean="0">
                <a:latin typeface="Times New Roman" pitchFamily="18" charset="0"/>
                <a:cs typeface="Times New Roman" pitchFamily="18" charset="0"/>
              </a:rPr>
              <a:t>, especially during peak months</a:t>
            </a:r>
            <a:r>
              <a:rPr lang="en-US" sz="1600" dirty="0" smtClean="0">
                <a:latin typeface="Times New Roman" pitchFamily="18" charset="0"/>
                <a:cs typeface="Times New Roman" pitchFamily="18" charset="0"/>
              </a:rPr>
              <a:t>.</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3</a:t>
            </a:r>
            <a:r>
              <a:rPr lang="en-US" sz="1600" b="1" dirty="0" smtClean="0">
                <a:solidFill>
                  <a:srgbClr val="C00000"/>
                </a:solidFill>
                <a:latin typeface="Times New Roman" pitchFamily="18" charset="0"/>
                <a:cs typeface="Times New Roman" pitchFamily="18" charset="0"/>
              </a:rPr>
              <a:t>. Strengthen Female-Focused </a:t>
            </a:r>
            <a:r>
              <a:rPr lang="en-US" sz="1600" b="1" dirty="0" smtClean="0">
                <a:solidFill>
                  <a:srgbClr val="C00000"/>
                </a:solidFill>
                <a:latin typeface="Times New Roman" pitchFamily="18" charset="0"/>
                <a:cs typeface="Times New Roman" pitchFamily="18" charset="0"/>
              </a:rPr>
              <a:t>Campaigns:</a:t>
            </a:r>
            <a:endParaRPr lang="en-US" sz="1600" b="1" dirty="0" smtClean="0">
              <a:solidFill>
                <a:srgbClr val="C00000"/>
              </a:solidFill>
              <a:latin typeface="Times New Roman" pitchFamily="18" charset="0"/>
              <a:cs typeface="Times New Roman" pitchFamily="18" charset="0"/>
            </a:endParaRPr>
          </a:p>
          <a:p>
            <a:r>
              <a:rPr lang="en-US" sz="1600" dirty="0" smtClean="0">
                <a:latin typeface="Times New Roman" pitchFamily="18" charset="0"/>
                <a:cs typeface="Times New Roman" pitchFamily="18" charset="0"/>
              </a:rPr>
              <a:t>Introduce targeted offers and product bundles for </a:t>
            </a:r>
            <a:r>
              <a:rPr lang="en-US" sz="1600" b="1" dirty="0" smtClean="0">
                <a:latin typeface="Times New Roman" pitchFamily="18" charset="0"/>
                <a:cs typeface="Times New Roman" pitchFamily="18" charset="0"/>
              </a:rPr>
              <a:t>female shoppers</a:t>
            </a:r>
            <a:r>
              <a:rPr lang="en-US" sz="1600" dirty="0" smtClean="0">
                <a:latin typeface="Times New Roman" pitchFamily="18" charset="0"/>
                <a:cs typeface="Times New Roman" pitchFamily="18" charset="0"/>
              </a:rPr>
              <a:t> if they drive higher revenue</a:t>
            </a:r>
            <a:r>
              <a:rPr lang="en-US" sz="1600" dirty="0" smtClean="0">
                <a:latin typeface="Times New Roman" pitchFamily="18" charset="0"/>
                <a:cs typeface="Times New Roman" pitchFamily="18" charset="0"/>
              </a:rPr>
              <a:t>.</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4. </a:t>
            </a:r>
            <a:r>
              <a:rPr lang="en-US" sz="1600" b="1" dirty="0" smtClean="0">
                <a:solidFill>
                  <a:srgbClr val="C00000"/>
                </a:solidFill>
                <a:latin typeface="Times New Roman" pitchFamily="18" charset="0"/>
                <a:cs typeface="Times New Roman" pitchFamily="18" charset="0"/>
              </a:rPr>
              <a:t>Encourage Digital </a:t>
            </a:r>
            <a:r>
              <a:rPr lang="en-US" sz="1600" b="1" dirty="0" smtClean="0">
                <a:solidFill>
                  <a:srgbClr val="C00000"/>
                </a:solidFill>
                <a:latin typeface="Times New Roman" pitchFamily="18" charset="0"/>
                <a:cs typeface="Times New Roman" pitchFamily="18" charset="0"/>
              </a:rPr>
              <a:t>Payments:</a:t>
            </a:r>
            <a:endParaRPr lang="en-US" sz="1600" b="1" dirty="0" smtClean="0">
              <a:solidFill>
                <a:srgbClr val="C00000"/>
              </a:solidFill>
              <a:latin typeface="Times New Roman" pitchFamily="18" charset="0"/>
              <a:cs typeface="Times New Roman" pitchFamily="18" charset="0"/>
            </a:endParaRPr>
          </a:p>
          <a:p>
            <a:r>
              <a:rPr lang="en-US" sz="1600" dirty="0" smtClean="0">
                <a:latin typeface="Times New Roman" pitchFamily="18" charset="0"/>
                <a:cs typeface="Times New Roman" pitchFamily="18" charset="0"/>
              </a:rPr>
              <a:t>Boost </a:t>
            </a:r>
            <a:r>
              <a:rPr lang="en-US" sz="1600" dirty="0" smtClean="0">
                <a:latin typeface="Times New Roman" pitchFamily="18" charset="0"/>
                <a:cs typeface="Times New Roman" pitchFamily="18" charset="0"/>
              </a:rPr>
              <a:t>UPI &amp; card </a:t>
            </a:r>
            <a:r>
              <a:rPr lang="en-US" sz="1600" dirty="0" smtClean="0">
                <a:latin typeface="Times New Roman" pitchFamily="18" charset="0"/>
                <a:cs typeface="Times New Roman" pitchFamily="18" charset="0"/>
              </a:rPr>
              <a:t>usage with </a:t>
            </a:r>
            <a:r>
              <a:rPr lang="en-US" sz="1600" b="1" dirty="0" smtClean="0">
                <a:latin typeface="Times New Roman" pitchFamily="18" charset="0"/>
                <a:cs typeface="Times New Roman" pitchFamily="18" charset="0"/>
              </a:rPr>
              <a:t>cash back</a:t>
            </a:r>
            <a:r>
              <a:rPr lang="en-US" sz="1600" b="1" dirty="0" smtClean="0">
                <a:latin typeface="Times New Roman" pitchFamily="18" charset="0"/>
                <a:cs typeface="Times New Roman" pitchFamily="18" charset="0"/>
              </a:rPr>
              <a:t>, discounts, and reward-based incentives</a:t>
            </a:r>
            <a:r>
              <a:rPr lang="en-US" sz="1600" dirty="0" smtClean="0">
                <a:latin typeface="Times New Roman" pitchFamily="18" charset="0"/>
                <a:cs typeface="Times New Roman" pitchFamily="18" charset="0"/>
              </a:rPr>
              <a:t>.</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5. </a:t>
            </a:r>
            <a:r>
              <a:rPr lang="en-US" sz="1600" b="1" dirty="0" smtClean="0">
                <a:solidFill>
                  <a:srgbClr val="C00000"/>
                </a:solidFill>
                <a:latin typeface="Times New Roman" pitchFamily="18" charset="0"/>
                <a:cs typeface="Times New Roman" pitchFamily="18" charset="0"/>
              </a:rPr>
              <a:t>Deliver Personalized Product </a:t>
            </a:r>
            <a:r>
              <a:rPr lang="en-US" sz="1600" b="1" dirty="0" smtClean="0">
                <a:solidFill>
                  <a:srgbClr val="C00000"/>
                </a:solidFill>
                <a:latin typeface="Times New Roman" pitchFamily="18" charset="0"/>
                <a:cs typeface="Times New Roman" pitchFamily="18" charset="0"/>
              </a:rPr>
              <a:t>Recommendations:</a:t>
            </a:r>
            <a:endParaRPr lang="en-US" sz="1600" b="1" dirty="0" smtClean="0">
              <a:solidFill>
                <a:srgbClr val="C00000"/>
              </a:solidFill>
              <a:latin typeface="Times New Roman" pitchFamily="18" charset="0"/>
              <a:cs typeface="Times New Roman" pitchFamily="18" charset="0"/>
            </a:endParaRPr>
          </a:p>
          <a:p>
            <a:r>
              <a:rPr lang="en-US" sz="1600" dirty="0" smtClean="0">
                <a:latin typeface="Times New Roman" pitchFamily="18" charset="0"/>
                <a:cs typeface="Times New Roman" pitchFamily="18" charset="0"/>
              </a:rPr>
              <a:t>Use age and gender insights to provide </a:t>
            </a:r>
            <a:r>
              <a:rPr lang="en-US" sz="1600" b="1" dirty="0" smtClean="0">
                <a:latin typeface="Times New Roman" pitchFamily="18" charset="0"/>
                <a:cs typeface="Times New Roman" pitchFamily="18" charset="0"/>
              </a:rPr>
              <a:t>customized category suggestions</a:t>
            </a:r>
            <a:r>
              <a:rPr lang="en-US" sz="1600" dirty="0" smtClean="0">
                <a:latin typeface="Times New Roman" pitchFamily="18" charset="0"/>
                <a:cs typeface="Times New Roman" pitchFamily="18" charset="0"/>
              </a:rPr>
              <a:t> and increase basket value</a:t>
            </a:r>
            <a:r>
              <a:rPr lang="en-US" dirty="0" smtClean="0"/>
              <a:t>.</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7" name="Picture 6" descr="Screenshot 2025-11-15 111328.png"/>
          <p:cNvPicPr>
            <a:picLocks noChangeAspect="1"/>
          </p:cNvPicPr>
          <p:nvPr/>
        </p:nvPicPr>
        <p:blipFill>
          <a:blip r:embed="rId4" cstate="print"/>
          <a:srcRect l="14175" t="20753" r="18101" b="8095"/>
          <a:stretch>
            <a:fillRect/>
          </a:stretch>
        </p:blipFill>
        <p:spPr>
          <a:xfrm>
            <a:off x="539552" y="1875284"/>
            <a:ext cx="7992888" cy="4461147"/>
          </a:xfrm>
          <a:prstGeom prst="rect">
            <a:avLst/>
          </a:prstGeom>
        </p:spPr>
      </p:pic>
      <p:sp>
        <p:nvSpPr>
          <p:cNvPr id="11" name="Rectangle 10"/>
          <p:cNvSpPr/>
          <p:nvPr/>
        </p:nvSpPr>
        <p:spPr>
          <a:xfrm>
            <a:off x="1835696" y="1223863"/>
            <a:ext cx="5112568" cy="584775"/>
          </a:xfrm>
          <a:prstGeom prst="rect">
            <a:avLst/>
          </a:prstGeom>
        </p:spPr>
        <p:txBody>
          <a:bodyPr wrap="square">
            <a:spAutoFit/>
          </a:bodyPr>
          <a:lstStyle/>
          <a:p>
            <a:pPr algn="ctr"/>
            <a:r>
              <a:rPr lang="en-US" sz="3200" b="1" dirty="0" smtClean="0">
                <a:solidFill>
                  <a:srgbClr val="FF0000"/>
                </a:solidFill>
                <a:latin typeface="Arial" pitchFamily="34" charset="0"/>
                <a:cs typeface="Arial" pitchFamily="34" charset="0"/>
              </a:rPr>
              <a:t>Dashboard</a:t>
            </a:r>
            <a:endParaRPr lang="en-US" sz="3200" b="1" dirty="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Screenshot 2025-11-15 111736.png"/>
          <p:cNvPicPr>
            <a:picLocks noChangeAspect="1"/>
          </p:cNvPicPr>
          <p:nvPr/>
        </p:nvPicPr>
        <p:blipFill>
          <a:blip r:embed="rId4" cstate="print"/>
          <a:srcRect l="14563" t="21836" r="18500" b="7012"/>
          <a:stretch>
            <a:fillRect/>
          </a:stretch>
        </p:blipFill>
        <p:spPr>
          <a:xfrm>
            <a:off x="683568" y="1943943"/>
            <a:ext cx="7778364" cy="4464496"/>
          </a:xfrm>
          <a:prstGeom prst="rect">
            <a:avLst/>
          </a:prstGeom>
        </p:spPr>
      </p:pic>
      <p:sp>
        <p:nvSpPr>
          <p:cNvPr id="7" name="Rectangle 6"/>
          <p:cNvSpPr/>
          <p:nvPr/>
        </p:nvSpPr>
        <p:spPr>
          <a:xfrm>
            <a:off x="1835696" y="1223863"/>
            <a:ext cx="5112568" cy="584775"/>
          </a:xfrm>
          <a:prstGeom prst="rect">
            <a:avLst/>
          </a:prstGeom>
        </p:spPr>
        <p:txBody>
          <a:bodyPr wrap="square">
            <a:spAutoFit/>
          </a:bodyPr>
          <a:lstStyle/>
          <a:p>
            <a:pPr algn="ctr"/>
            <a:r>
              <a:rPr lang="en-US" sz="3200" b="1" dirty="0" smtClean="0">
                <a:solidFill>
                  <a:srgbClr val="FF0000"/>
                </a:solidFill>
                <a:latin typeface="Arial" pitchFamily="34" charset="0"/>
                <a:cs typeface="Arial" pitchFamily="34" charset="0"/>
              </a:rPr>
              <a:t>Dashboard</a:t>
            </a:r>
            <a:endParaRPr lang="en-US" sz="3200" b="1" dirty="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Screenshot 2025-11-15 112618.png"/>
          <p:cNvPicPr>
            <a:picLocks noChangeAspect="1"/>
          </p:cNvPicPr>
          <p:nvPr/>
        </p:nvPicPr>
        <p:blipFill>
          <a:blip r:embed="rId4" cstate="print"/>
          <a:srcRect l="14563" t="20353" r="18500" b="7012"/>
          <a:stretch>
            <a:fillRect/>
          </a:stretch>
        </p:blipFill>
        <p:spPr>
          <a:xfrm>
            <a:off x="518978" y="1871935"/>
            <a:ext cx="7869446" cy="4536504"/>
          </a:xfrm>
          <a:prstGeom prst="rect">
            <a:avLst/>
          </a:prstGeom>
        </p:spPr>
      </p:pic>
      <p:sp>
        <p:nvSpPr>
          <p:cNvPr id="6" name="Rectangle 5"/>
          <p:cNvSpPr/>
          <p:nvPr/>
        </p:nvSpPr>
        <p:spPr>
          <a:xfrm>
            <a:off x="1835696" y="1223863"/>
            <a:ext cx="5112568" cy="584775"/>
          </a:xfrm>
          <a:prstGeom prst="rect">
            <a:avLst/>
          </a:prstGeom>
        </p:spPr>
        <p:txBody>
          <a:bodyPr wrap="square">
            <a:spAutoFit/>
          </a:bodyPr>
          <a:lstStyle/>
          <a:p>
            <a:pPr algn="ctr"/>
            <a:r>
              <a:rPr lang="en-US" sz="3200" b="1" dirty="0" smtClean="0">
                <a:solidFill>
                  <a:srgbClr val="FF0000"/>
                </a:solidFill>
                <a:latin typeface="Arial" pitchFamily="34" charset="0"/>
                <a:cs typeface="Arial" pitchFamily="34" charset="0"/>
              </a:rPr>
              <a:t>Dashboard</a:t>
            </a:r>
            <a:endParaRPr lang="en-US" sz="3200" b="1" dirty="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8249"/>
            <a:ext cx="7772400" cy="1389038"/>
          </a:xfrm>
        </p:spPr>
        <p:txBody>
          <a:bodyPr/>
          <a:lstStyle/>
          <a:p>
            <a:r>
              <a:rPr lang="en-IN" b="1" dirty="0" smtClean="0">
                <a:latin typeface="Times New Roman" pitchFamily="18" charset="0"/>
                <a:cs typeface="Times New Roman" pitchFamily="18" charset="0"/>
              </a:rPr>
              <a:t>Customer Data Analysis </a:t>
            </a:r>
            <a:endParaRPr lang="en-US" b="1" dirty="0">
              <a:latin typeface="Times New Roman" pitchFamily="18" charset="0"/>
              <a:cs typeface="Times New Roman" pitchFamily="18" charset="0"/>
            </a:endParaRPr>
          </a:p>
        </p:txBody>
      </p:sp>
      <p:pic>
        <p:nvPicPr>
          <p:cNvPr id="4" name="Picture 3" descr="pngegg (35).png"/>
          <p:cNvPicPr>
            <a:picLocks noChangeAspect="1"/>
          </p:cNvPicPr>
          <p:nvPr/>
        </p:nvPicPr>
        <p:blipFill>
          <a:blip r:embed="rId3" cstate="print"/>
          <a:stretch>
            <a:fillRect/>
          </a:stretch>
        </p:blipFill>
        <p:spPr>
          <a:xfrm>
            <a:off x="362741" y="419423"/>
            <a:ext cx="1040908" cy="983562"/>
          </a:xfrm>
          <a:prstGeom prst="rect">
            <a:avLst/>
          </a:prstGeom>
        </p:spPr>
      </p:pic>
      <p:pic>
        <p:nvPicPr>
          <p:cNvPr id="5" name="Picture 4" descr="pngegg (50).png"/>
          <p:cNvPicPr>
            <a:picLocks noChangeAspect="1"/>
          </p:cNvPicPr>
          <p:nvPr/>
        </p:nvPicPr>
        <p:blipFill>
          <a:blip r:embed="rId4" cstate="print"/>
          <a:stretch>
            <a:fillRect/>
          </a:stretch>
        </p:blipFill>
        <p:spPr>
          <a:xfrm>
            <a:off x="2267744" y="1583903"/>
            <a:ext cx="4824536" cy="4608512"/>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685</TotalTime>
  <Words>647</Words>
  <Application>Microsoft Office PowerPoint</Application>
  <PresentationFormat>Custom</PresentationFormat>
  <Paragraphs>137</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lpstr>Customer Data Analysis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Data Analysis </dc:title>
  <dc:creator>sainanthan</dc:creator>
  <cp:lastModifiedBy>sainanthan</cp:lastModifiedBy>
  <cp:revision>37</cp:revision>
  <dcterms:created xsi:type="dcterms:W3CDTF">2025-11-14T14:19:38Z</dcterms:created>
  <dcterms:modified xsi:type="dcterms:W3CDTF">2025-11-15T13:00:29Z</dcterms:modified>
</cp:coreProperties>
</file>